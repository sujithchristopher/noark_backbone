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1625949c-5818-4470-433e-109047658209}">
          <p14:sldIdLst>
            <p14:sldId id="256"/>
            <p14:sldId id="257"/>
            <p14:sldId id="258"/>
          </p14:sldIdLst>
        </p14:section>
        <p14:section name="Definitions" id="{16b37e51-bbb9-4bd5-0647-94713c3a2c46}">
          <p14:sldIdLst>
            <p14:sldId id="259"/>
            <p14:sldId id="260"/>
            <p14:sldId id="261"/>
          </p14:sldIdLst>
        </p14:section>
        <p14:section name="Accuracy on still holds" id="{acb6b8b6-16e6-d012-1fda-6905d4224300}">
          <p14:sldIdLst>
            <p14:sldId id="262"/>
            <p14:sldId id="263"/>
            <p14:sldId id="264"/>
          </p14:sldIdLst>
        </p14:section>
        <p14:section name="Jig and second camera" id="{68783450-7b33-483b-1e06-8d6f1bbe57b9}">
          <p14:sldIdLst>
            <p14:sldId id="265"/>
            <p14:sldId id="266"/>
            <p14:sldId id="267"/>
          </p14:sldIdLst>
        </p14:section>
        <p14:section name="Static jitter" id="{924a6729-66b6-80e9-7137-8eb3e603b7e3}">
          <p14:sldIdLst>
            <p14:sldId id="268"/>
            <p14:sldId id="269"/>
          </p14:sldIdLst>
        </p14:section>
        <p14:section name="Under motion" id="{c59a7a76-547c-b9b0-0c01-ca57249a7776}">
          <p14:sldIdLst>
            <p14:sldId id="270"/>
            <p14:sldId id="271"/>
            <p14:sldId id="272"/>
            <p14:sldId id="273"/>
          </p14:sldIdLst>
        </p14:section>
        <p14:section name="Diwakar's metric" id="{94eaa488-ee9b-6467-574a-941b52ef9a23}">
          <p14:sldIdLst>
            <p14:sldId id="274"/>
          </p14:sldIdLst>
        </p14:section>
        <p14:section name="Detection path" id="{2184c3a6-25fc-b669-53ea-da31633997d6}">
          <p14:sldIdLst>
            <p14:sldId id="275"/>
          </p14:sldIdLst>
        </p14:section>
        <p14:section name="Summary" id="{3d12021f-3fed-46e6-a25c-c24abebc3588}">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position number is in millimetres; coverage is in percent of frames; the timing offset is in milliseconds. Position errors are in the table plane (mocap X and Z) because the game only uses the table 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render_vids.py. Left: what each camera recorded (the recorder keeps only a crop around the device; the rest of the view is the last crop seen there, dimmed), undistorted as the tracker sees it, with the tracker's own tag corners (yellow) and the solved grip point (blue ring). Right: table-plane path, mocap black, camera blue (Diwakar edge corners, 8-tag jig, both cameras, registration fitted on the T1 holds). T1 plays at 8x, the others at 1x. Click a video to play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analyze_T1.fit / apply: p_mocap_grip = R_wc g_cam + t_wc, with the grip offset g_body expressed in the mocap rigid body (9 parameters: rotation, translation, offset; no scale). T1 accuracy is held-out: fit on run 1, score run 2, and the reverse. T2 / T3 use the fit on both T1 runs, frozen. Mocap frames whose position jumps more than 20 mm in 10 ms are treated as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run the tracker's own detector settings on the undistorted image (detect_paths.py, path 'ud'). Diwakar edge = OpenCV CORNER_REFINE_CONTOUR + edge_refine.py from his tracker repo; re-running it reproduces the logged corners to 0.004 px median. AprilTag refine = rapidtag 0.1.12 CORNER_REFINE_APRILTAG. Each refinement gets its own jig, bundle-adjusted from its own T0 corners, so no refinement is scored against another's geometry. Corner offsets: T1 run 1, 489,636 tag detections.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Solvers in common.py: single camera = SOLVEPNP_IPPE for one tag, SQPNP + LM refinement for several; both cameras = Gauss-Newton over both cameras' corners through the stereo extrinsics (p_cam0 = Rx p_cam1 + tx). Jitter: static_jitter_T1.py, 50-frame windows (0.5 s at 100 Hz), SD with ddof 1, in mocap axes. Holds whose mocap SD exceeds 0.2 mm are dropped as moved. Every condition is scored on the same frames per 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 held-out registration, 8-tag jig. Holds per solver: cam0 143, cam1 153, both 159. RMSE (mm) cam0 / cam1 / both: no refine 2.37 / 2.34 / 2.13; contour 2.08 / 2.10 / 1.93; Diwakar edge 1.22 / 1.14 / 1.21; AprilTag 1.29 / 1.21 / 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 both cameras, 8-tag jig, held-out. RMSE X / Z (mm): no refine 1.28 / 1.70; contour 1.27 / 1.45; Diwakar edge 0.83 / 0.88; AprilTag 0.82 / 0.95.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along the line of sight = (camera − mocap) projected on the direction from cam0's centre to the grip point, mocap axes; distance from the same registration. Slopes (least squares): no refine 1.45 %, Diwakar edge 0.47 %, AprilTag 0.56 %. Tags are printed at a nominal 50 mm side. Diwakar's own fit finds a camera scale of 0.992 (run 1) and 0.994 (run 2): the same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Diwakar edge, T1, held-out. Jig vs tag 12 RMSE (mm) cam0 / cam1 / both: jig 1.22 / 1.14 / 1.21; tag 12 2.77 / 3.06 / 2.41. Jitter is the 50-frame window SD per hold (3D, mm), on the same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 12 only, T1, held-out. RMSE (mm) cam0 / cam1 / both: no refine 5.42 / 5.19 / 2.86; contour 3.89 / 3.74 / 2.31; Diwakar edge 2.77 / 3.06 / 2.41; AprilTag 3.54 / 3.55 / 2.41.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coverage.png: frames with a pose / frames with recorded images, mean over takes. T2 and T3 record images every second frame, so only those frames are counted for every refinement. Tag 12 coverage in T3 is near 100 % because reaching keeps the device facing the cameras. AprilTag refine uses its own detector (rapidtag), which finds tag 12 more often than the tracker's.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 jitter per hold (mm, 3D) cam0 / cam1 / both, jig: no refine 0.347 / 0.364 / 0.240; contour 0.078 / 0.080 / 0.065; Diwakar edge 0.041 / 0.055 / 0.052; AprilTag 0.082 / 0.088 / 0.063. Rotation jitter (degrees, RMS angle about the window mean): edge 0.011 / 0.012 / 0.013; no refine 0.113 / 0.120 / 0.085.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holds binned by the grip's depth in front of cam0 (50 mm bins, bins with at least 8 holds). Right: per-axis SD in mocap axes for Diwakar edge, both cameras, jig. Below about 400 mm the camera jitters less than the mocap reference, so there mocap noise, not the tracker, limits what this test can resolve.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 / T3, both cameras, 8-tag jig, registration fitted on both T1 runs and frozen. Frames common to all four refinements; images (and so re-detected corners) exist for every second frame. Pacer speeds: slow 100, comfortable 200, fast 300 mm/s. Reaching (T3) includes the pauses at the centre and the targets, so its median speed is low. RMSE (mm), Diwakar edge: 1.65 / 2.31 / 3.43 / 1.76 / 2.56 / 2.67 / 1.39 / 2.21.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mocap path coloured by that frame's error (Diwakar edge, both cameras, jig). Colour scale clipped at 5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error split into the component along the direction of motion and across it (mocap velocity, table plane); median per speed bin, band = middle 50 %. Fitted along-track error = 7.6 ms × speed. Right: every T2 / T3 frame re-scored with mocap read later by the shown amount. Best shift: cam0 8 ms (RMSE 1.89 → 1.23 mm), cam1 8 ms (2.08 → 1.51), both 7 ms (2.19 → 1.72). The earlier lag scan used 20 ms steps, too coarse to see this. The data cannot tell which clock is late; one LED flash seen by both systems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 circle, comfortable, run 1, both cameras, Diwakar edge. Gaps in the tag 12 line are frames where tag 12 alone gave no pose. Median per-frame error over all T2 / T3 frames, both cameras: Diwakar edge jig 1.60 vs tag 12 2.06 mm; AprilTag jig 1.59 vs tag 12 2.15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reproduce_diwakar.py: camera-to-mocap rotation and translation, board-to-body rotation, body origin in the board, and a free scale on the camera translation (13 parameters); rotation residuals weighted 200 mm per rad. Device = mean over the whole hold, mocap = mean over the hold trimmed 0.5 s, errors in his table frame (across, depth, height). RMSE (mm) across / depth / height: in-sample free scale 0.27 / 0.57 / 0.34 (his run 1 alone: 0.31 / 0.63 / 0.33, reproduced exactly); other run, free scale 0.36 / 0.70 / 0.42; other run, scale 1 0.76 / 0.92 / 0.42.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detect_paths.py / compare_paths.py: same detector settings both ways. 'Image' = remap the fisheye crop to the pinhole image, then detect (the tracker). 'Corners' = detect on the fisheye crop, then cv2.fisheye.undistortPoints. Each path and refinement has its own T0 jig. Jitter ratio = corners ÷ image per hold (both cameras, jig); medians: no refine 1.16, contour 1.08, edge 1.01, AprilTag 1.03.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Still-hold numbers are held-out medians per hold with the 8-tag jig. The timing offset is from re-scoring T2 / T3 with mocap shifted in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731520" y="3566160"/>
            <a:ext cx="10698480" cy="1645920"/>
          </a:xfrm>
          <a:prstGeom prst="rect">
            <a:avLst/>
          </a:prstGeom>
          <a:noFill/>
          <a:ln/>
        </p:spPr>
        <p:txBody>
          <a:bodyPr wrap="square" rtlCol="0"/>
          <a:lstStyle>
            <a:lvl1pPr algn="l" indent="0" marL="0">
              <a:buNone/>
              <a:defRPr lang="en-US" sz="2000" dirty="0">
                <a:solidFill>
                  <a:srgbClr val="C9D4E3"/>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NOARK · Diwakar validation · dual-camera tag jig vs Motive mocap</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video" Target="../media/media-3-4.mp4"/><Relationship Id="rId5" Type="http://schemas.microsoft.com/office/2007/relationships/media" Target="../media/media-3-4.mp4"/><Relationship Id="rId6" Type="http://schemas.openxmlformats.org/officeDocument/2006/relationships/image" Target="../media/image-3-6.png"/><Relationship Id="rId7" Type="http://schemas.openxmlformats.org/officeDocument/2006/relationships/video" Target="../media/media-3-7.mp4"/><Relationship Id="rId8" Type="http://schemas.microsoft.com/office/2007/relationships/media" Target="../media/media-3-7.mp4"/><Relationship Id="rId9" Type="http://schemas.openxmlformats.org/officeDocument/2006/relationships/image" Target="../media/image-3-9.png"/><Relationship Id="rId10" Type="http://schemas.openxmlformats.org/officeDocument/2006/relationships/video" Target="../media/media-3-10.mp4"/><Relationship Id="rId11" Type="http://schemas.microsoft.com/office/2007/relationships/media" Target="../media/media-3-10.mp4"/><Relationship Id="rId12" Type="http://schemas.openxmlformats.org/officeDocument/2006/relationships/image" Target="../media/image-3-12.png"/><Relationship Id="rId13" Type="http://schemas.openxmlformats.org/officeDocument/2006/relationships/slideLayout" Target="../slideLayouts/slideLayout3.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lIns="0" tIns="0" rIns="0" bIns="0" rtlCol="0" anchor="b"/>
          <a:lstStyle/>
          <a:p>
            <a:pPr algn="l" indent="0" marL="0">
              <a:buNone/>
            </a:pPr>
            <a:r>
              <a:rPr lang="en-US" sz="4600" b="1" dirty="0">
                <a:solidFill>
                  <a:schemeClr val="bg1"/>
                </a:solidFill>
              </a:rPr>
              <a:t>Diwakar Validation</a:t>
            </a:r>
            <a:endParaRPr lang="en-US" sz="4600" dirty="0"/>
          </a:p>
        </p:txBody>
      </p:sp>
      <p:sp>
        <p:nvSpPr>
          <p:cNvPr id="3" name="Text 0"/>
          <p:cNvSpPr/>
          <p:nvPr>
            <p:ph idx="101" type="body" hasCustomPrompt="1"/>
          </p:nvPr>
        </p:nvSpPr>
        <p:spPr>
          <a:xfrm>
            <a:off x="731520" y="3566160"/>
            <a:ext cx="10698480" cy="1645920"/>
          </a:xfrm>
          <a:prstGeom prst="rect">
            <a:avLst/>
          </a:prstGeom>
          <a:noFill/>
          <a:ln/>
        </p:spPr>
        <p:txBody>
          <a:bodyPr wrap="square" lIns="0" tIns="0" rIns="0" bIns="0" rtlCol="0" anchor="t"/>
          <a:lstStyle/>
          <a:p>
            <a:pPr algn="l" indent="0" marL="0">
              <a:buNone/>
            </a:pPr>
            <a:r>
              <a:rPr lang="en-US" sz="2000" dirty="0">
                <a:solidFill>
                  <a:srgbClr val="C9D4E3"/>
                </a:solidFill>
              </a:rPr>
              <a:t>Dual-camera tag jig vs Motive mocap: how accurate it is, which corner refinement to keep, whether the second camera earns its place, and what error is left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What we measure</a:t>
            </a:r>
            <a:endParaRPr lang="en-US" sz="3000" dirty="0"/>
          </a:p>
        </p:txBody>
      </p:sp>
      <p:sp>
        <p:nvSpPr>
          <p:cNvPr id="4" name="points panel"/>
          <p:cNvSpPr/>
          <p:nvPr/>
        </p:nvSpPr>
        <p:spPr>
          <a:xfrm>
            <a:off x="548640" y="1234440"/>
            <a:ext cx="5669280" cy="5029200"/>
          </a:xfrm>
          <a:prstGeom prst="roundRect">
            <a:avLst>
              <a:gd name="adj" fmla="val 2182"/>
            </a:avLst>
          </a:prstGeom>
          <a:solidFill>
            <a:schemeClr val="bg2"/>
          </a:solidFill>
          <a:ln/>
        </p:spPr>
      </p:sp>
      <p:sp>
        <p:nvSpPr>
          <p:cNvPr id="5" name="points"/>
          <p:cNvSpPr txBox="1"/>
          <p:nvPr/>
        </p:nvSpPr>
        <p:spPr>
          <a:xfrm>
            <a:off x="749808" y="1417320"/>
            <a:ext cx="5266944" cy="466344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chemeClr val="tx1"/>
                </a:solidFill>
              </a:rPr>
              <a:t>Radxa board, two fisheye cameras (stereo pair) looking across the table</a:t>
            </a:r>
            <a:endParaRPr lang="en-US" sz="1700" dirty="0"/>
          </a:p>
          <a:p>
            <a:pPr marL="203200" indent="-203200">
              <a:spcAft>
                <a:spcPts val="600"/>
              </a:spcAft>
              <a:buSzPct val="100000"/>
              <a:buChar char="•"/>
            </a:pPr>
            <a:r>
              <a:rPr lang="en-US" sz="1700" dirty="0">
                <a:solidFill>
                  <a:schemeClr val="tx1"/>
                </a:solidFill>
              </a:rPr>
              <a:t>Device: 8 AprilTags on one rigid jig {4, 8, 12, 14, 20, 24, 28, 32}; tag 12 is the reference</a:t>
            </a:r>
            <a:endParaRPr lang="en-US" sz="1700" dirty="0"/>
          </a:p>
          <a:p>
            <a:pPr marL="203200" indent="-203200">
              <a:spcAft>
                <a:spcPts val="600"/>
              </a:spcAft>
              <a:buSzPct val="100000"/>
              <a:buChar char="•"/>
            </a:pPr>
            <a:r>
              <a:rPr lang="en-US" sz="1700" dirty="0">
                <a:solidFill>
                  <a:schemeClr val="tx1"/>
                </a:solidFill>
              </a:rPr>
              <a:t>Truth: Motive mocap rigid body on the device, 100 Hz, GPIO-synced to the cameras</a:t>
            </a:r>
            <a:endParaRPr lang="en-US" sz="1700" dirty="0"/>
          </a:p>
          <a:p>
            <a:pPr marL="203200" indent="-203200">
              <a:spcAft>
                <a:spcPts val="600"/>
              </a:spcAft>
              <a:buSzPct val="100000"/>
              <a:buChar char="•"/>
            </a:pPr>
            <a:r>
              <a:rPr lang="en-US" sz="1700" dirty="0">
                <a:solidFill>
                  <a:schemeClr val="tx1"/>
                </a:solidFill>
              </a:rPr>
              <a:t>Takes, 3 Oct 2026</a:t>
            </a:r>
            <a:endParaRPr lang="en-US" sz="1700" dirty="0"/>
          </a:p>
          <a:p>
            <a:pPr lvl="1" marL="355600" indent="-177800">
              <a:spcAft>
                <a:spcPts val="600"/>
              </a:spcAft>
              <a:buSzPct val="100000"/>
              <a:buChar char="•"/>
            </a:pPr>
            <a:r>
              <a:rPr lang="en-US" sz="1500" dirty="0">
                <a:solidFill>
                  <a:schemeClr val="accent5"/>
                </a:solidFill>
              </a:rPr>
              <a:t>T0: free motion, used only to build the jig</a:t>
            </a:r>
            <a:endParaRPr lang="en-US" sz="1700" dirty="0"/>
          </a:p>
          <a:p>
            <a:pPr lvl="1" marL="355600" indent="-177800">
              <a:spcAft>
                <a:spcPts val="600"/>
              </a:spcAft>
              <a:buSzPct val="100000"/>
              <a:buChar char="•"/>
            </a:pPr>
            <a:r>
              <a:rPr lang="en-US" sz="1500" dirty="0">
                <a:solidFill>
                  <a:schemeClr val="accent5"/>
                </a:solidFill>
              </a:rPr>
              <a:t>T1: still holds on a table grid, 2 runs, ~160 usable holds</a:t>
            </a:r>
            <a:endParaRPr lang="en-US" sz="1700" dirty="0"/>
          </a:p>
          <a:p>
            <a:pPr lvl="1" marL="355600" indent="-177800">
              <a:spcAft>
                <a:spcPts val="600"/>
              </a:spcAft>
              <a:buSzPct val="100000"/>
              <a:buChar char="•"/>
            </a:pPr>
            <a:r>
              <a:rPr lang="en-US" sz="1500" dirty="0">
                <a:solidFill>
                  <a:schemeClr val="accent5"/>
                </a:solidFill>
              </a:rPr>
              <a:t>T2: circle and figure-eight at 100 / 200 / 300 mm/s pacer speed</a:t>
            </a:r>
            <a:endParaRPr lang="en-US" sz="1700" dirty="0"/>
          </a:p>
          <a:p>
            <a:pPr lvl="1" marL="355600" indent="-177800">
              <a:spcAft>
                <a:spcPts val="600"/>
              </a:spcAft>
              <a:buSzPct val="100000"/>
              <a:buChar char="•"/>
            </a:pPr>
            <a:r>
              <a:rPr lang="en-US" sz="1500" dirty="0">
                <a:solidFill>
                  <a:schemeClr val="accent5"/>
                </a:solidFill>
              </a:rPr>
              <a:t>T3: reaching out and back, comfortable and fast</a:t>
            </a:r>
            <a:endParaRPr lang="en-US" sz="1700" dirty="0"/>
          </a:p>
        </p:txBody>
      </p:sp>
      <p:sp>
        <p:nvSpPr>
          <p:cNvPr id="6" name="Accuracy card"/>
          <p:cNvSpPr/>
          <p:nvPr/>
        </p:nvSpPr>
        <p:spPr>
          <a:xfrm>
            <a:off x="6492240" y="1234440"/>
            <a:ext cx="5120640" cy="1115568"/>
          </a:xfrm>
          <a:prstGeom prst="roundRect">
            <a:avLst>
              <a:gd name="adj" fmla="val 9836"/>
            </a:avLst>
          </a:prstGeom>
          <a:solidFill>
            <a:schemeClr val="bg2"/>
          </a:solidFill>
          <a:ln/>
        </p:spPr>
      </p:sp>
      <p:sp>
        <p:nvSpPr>
          <p:cNvPr id="7" name="Accuracy dot"/>
          <p:cNvSpPr/>
          <p:nvPr/>
        </p:nvSpPr>
        <p:spPr>
          <a:xfrm>
            <a:off x="6675120" y="1536192"/>
            <a:ext cx="512064" cy="512064"/>
          </a:xfrm>
          <a:prstGeom prst="ellipse">
            <a:avLst/>
          </a:prstGeom>
          <a:solidFill>
            <a:schemeClr val="tx2"/>
          </a:solidFill>
          <a:ln/>
        </p:spPr>
      </p:sp>
      <p:sp>
        <p:nvSpPr>
          <p:cNvPr id="8" name="Text 5"/>
          <p:cNvSpPr txBox="1"/>
          <p:nvPr/>
        </p:nvSpPr>
        <p:spPr>
          <a:xfrm>
            <a:off x="6675120" y="1536192"/>
            <a:ext cx="512064" cy="512064"/>
          </a:xfrm>
          <a:prstGeom prst="rect">
            <a:avLst/>
          </a:prstGeom>
          <a:noFill/>
          <a:ln/>
        </p:spPr>
        <p:txBody>
          <a:bodyPr wrap="square" lIns="0" tIns="0" rIns="0" bIns="0" rtlCol="0" anchor="ctr"/>
          <a:lstStyle/>
          <a:p>
            <a:pPr algn="ctr" indent="0" marL="0">
              <a:buNone/>
            </a:pPr>
            <a:r>
              <a:rPr lang="en-US" sz="1500" b="1" dirty="0">
                <a:solidFill>
                  <a:schemeClr val="bg1"/>
                </a:solidFill>
              </a:rPr>
              <a:t>mm</a:t>
            </a:r>
            <a:endParaRPr lang="en-US" sz="1500" dirty="0"/>
          </a:p>
        </p:txBody>
      </p:sp>
      <p:sp>
        <p:nvSpPr>
          <p:cNvPr id="9" name="Text 6"/>
          <p:cNvSpPr txBox="1"/>
          <p:nvPr/>
        </p:nvSpPr>
        <p:spPr>
          <a:xfrm>
            <a:off x="7360920" y="1325880"/>
            <a:ext cx="4114800" cy="932688"/>
          </a:xfrm>
          <a:prstGeom prst="rect">
            <a:avLst/>
          </a:prstGeom>
          <a:noFill/>
          <a:ln/>
        </p:spPr>
        <p:txBody>
          <a:bodyPr wrap="square" lIns="0" tIns="0" rIns="0" bIns="0" rtlCol="0" anchor="ctr"/>
          <a:lstStyle/>
          <a:p>
            <a:pPr indent="0" marL="0">
              <a:buNone/>
            </a:pPr>
            <a:r>
              <a:rPr lang="en-US" sz="1800" b="1" dirty="0">
                <a:solidFill>
                  <a:schemeClr val="tx2"/>
                </a:solidFill>
              </a:rPr>
              <a:t>Accuracy</a:t>
            </a:r>
            <a:endParaRPr lang="en-US" sz="1800" dirty="0"/>
          </a:p>
          <a:p>
            <a:pPr indent="0" marL="0">
              <a:buNone/>
            </a:pPr>
            <a:r>
              <a:rPr lang="en-US" sz="1400" dirty="0">
                <a:solidFill>
                  <a:schemeClr val="tx1"/>
                </a:solidFill>
              </a:rPr>
              <a:t>Grip point error per still hold, table plane</a:t>
            </a:r>
            <a:endParaRPr lang="en-US" sz="1800" dirty="0"/>
          </a:p>
        </p:txBody>
      </p:sp>
      <p:sp>
        <p:nvSpPr>
          <p:cNvPr id="10" name="Static jitter card"/>
          <p:cNvSpPr/>
          <p:nvPr/>
        </p:nvSpPr>
        <p:spPr>
          <a:xfrm>
            <a:off x="6492240" y="2514600"/>
            <a:ext cx="5120640" cy="1115568"/>
          </a:xfrm>
          <a:prstGeom prst="roundRect">
            <a:avLst>
              <a:gd name="adj" fmla="val 9836"/>
            </a:avLst>
          </a:prstGeom>
          <a:solidFill>
            <a:schemeClr val="bg2"/>
          </a:solidFill>
          <a:ln/>
        </p:spPr>
      </p:sp>
      <p:sp>
        <p:nvSpPr>
          <p:cNvPr id="11" name="Static jitter dot"/>
          <p:cNvSpPr/>
          <p:nvPr/>
        </p:nvSpPr>
        <p:spPr>
          <a:xfrm>
            <a:off x="6675120" y="2816352"/>
            <a:ext cx="512064" cy="512064"/>
          </a:xfrm>
          <a:prstGeom prst="ellipse">
            <a:avLst/>
          </a:prstGeom>
          <a:solidFill>
            <a:schemeClr val="tx2"/>
          </a:solidFill>
          <a:ln/>
        </p:spPr>
      </p:sp>
      <p:sp>
        <p:nvSpPr>
          <p:cNvPr id="12" name="Text 9"/>
          <p:cNvSpPr txBox="1"/>
          <p:nvPr/>
        </p:nvSpPr>
        <p:spPr>
          <a:xfrm>
            <a:off x="6675120" y="2816352"/>
            <a:ext cx="512064" cy="512064"/>
          </a:xfrm>
          <a:prstGeom prst="rect">
            <a:avLst/>
          </a:prstGeom>
          <a:noFill/>
          <a:ln/>
        </p:spPr>
        <p:txBody>
          <a:bodyPr wrap="square" lIns="0" tIns="0" rIns="0" bIns="0" rtlCol="0" anchor="ctr"/>
          <a:lstStyle/>
          <a:p>
            <a:pPr algn="ctr" indent="0" marL="0">
              <a:buNone/>
            </a:pPr>
            <a:r>
              <a:rPr lang="en-US" sz="1500" b="1" dirty="0">
                <a:solidFill>
                  <a:schemeClr val="bg1"/>
                </a:solidFill>
              </a:rPr>
              <a:t>mm</a:t>
            </a:r>
            <a:endParaRPr lang="en-US" sz="1500" dirty="0"/>
          </a:p>
        </p:txBody>
      </p:sp>
      <p:sp>
        <p:nvSpPr>
          <p:cNvPr id="13" name="Text 10"/>
          <p:cNvSpPr txBox="1"/>
          <p:nvPr/>
        </p:nvSpPr>
        <p:spPr>
          <a:xfrm>
            <a:off x="7360920" y="2606040"/>
            <a:ext cx="4114800" cy="932688"/>
          </a:xfrm>
          <a:prstGeom prst="rect">
            <a:avLst/>
          </a:prstGeom>
          <a:noFill/>
          <a:ln/>
        </p:spPr>
        <p:txBody>
          <a:bodyPr wrap="square" lIns="0" tIns="0" rIns="0" bIns="0" rtlCol="0" anchor="ctr"/>
          <a:lstStyle/>
          <a:p>
            <a:pPr indent="0" marL="0">
              <a:buNone/>
            </a:pPr>
            <a:r>
              <a:rPr lang="en-US" sz="1800" b="1" dirty="0">
                <a:solidFill>
                  <a:schemeClr val="tx2"/>
                </a:solidFill>
              </a:rPr>
              <a:t>Static jitter</a:t>
            </a:r>
            <a:endParaRPr lang="en-US" sz="1800" dirty="0"/>
          </a:p>
          <a:p>
            <a:pPr indent="0" marL="0">
              <a:buNone/>
            </a:pPr>
            <a:r>
              <a:rPr lang="en-US" sz="1400" dirty="0">
                <a:solidFill>
                  <a:schemeClr val="tx1"/>
                </a:solidFill>
              </a:rPr>
              <a:t>Spread of the grip point while the device is still</a:t>
            </a:r>
            <a:endParaRPr lang="en-US" sz="1800" dirty="0"/>
          </a:p>
        </p:txBody>
      </p:sp>
      <p:sp>
        <p:nvSpPr>
          <p:cNvPr id="14" name="Coverage card"/>
          <p:cNvSpPr/>
          <p:nvPr/>
        </p:nvSpPr>
        <p:spPr>
          <a:xfrm>
            <a:off x="6492240" y="3794760"/>
            <a:ext cx="5120640" cy="1115568"/>
          </a:xfrm>
          <a:prstGeom prst="roundRect">
            <a:avLst>
              <a:gd name="adj" fmla="val 9836"/>
            </a:avLst>
          </a:prstGeom>
          <a:solidFill>
            <a:schemeClr val="bg2"/>
          </a:solidFill>
          <a:ln/>
        </p:spPr>
      </p:sp>
      <p:sp>
        <p:nvSpPr>
          <p:cNvPr id="15" name="Coverage dot"/>
          <p:cNvSpPr/>
          <p:nvPr/>
        </p:nvSpPr>
        <p:spPr>
          <a:xfrm>
            <a:off x="6675120" y="4096512"/>
            <a:ext cx="512064" cy="512064"/>
          </a:xfrm>
          <a:prstGeom prst="ellipse">
            <a:avLst/>
          </a:prstGeom>
          <a:solidFill>
            <a:schemeClr val="tx2"/>
          </a:solidFill>
          <a:ln/>
        </p:spPr>
      </p:sp>
      <p:sp>
        <p:nvSpPr>
          <p:cNvPr id="16" name="Text 13"/>
          <p:cNvSpPr txBox="1"/>
          <p:nvPr/>
        </p:nvSpPr>
        <p:spPr>
          <a:xfrm>
            <a:off x="6675120" y="4096512"/>
            <a:ext cx="512064" cy="512064"/>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p:txBody>
      </p:sp>
      <p:sp>
        <p:nvSpPr>
          <p:cNvPr id="17" name="Text 14"/>
          <p:cNvSpPr txBox="1"/>
          <p:nvPr/>
        </p:nvSpPr>
        <p:spPr>
          <a:xfrm>
            <a:off x="7360920" y="3886200"/>
            <a:ext cx="4114800" cy="932688"/>
          </a:xfrm>
          <a:prstGeom prst="rect">
            <a:avLst/>
          </a:prstGeom>
          <a:noFill/>
          <a:ln/>
        </p:spPr>
        <p:txBody>
          <a:bodyPr wrap="square" lIns="0" tIns="0" rIns="0" bIns="0" rtlCol="0" anchor="ctr"/>
          <a:lstStyle/>
          <a:p>
            <a:pPr indent="0" marL="0">
              <a:buNone/>
            </a:pPr>
            <a:r>
              <a:rPr lang="en-US" sz="1800" b="1" dirty="0">
                <a:solidFill>
                  <a:schemeClr val="tx2"/>
                </a:solidFill>
              </a:rPr>
              <a:t>Coverage</a:t>
            </a:r>
            <a:endParaRPr lang="en-US" sz="1800" dirty="0"/>
          </a:p>
          <a:p>
            <a:pPr indent="0" marL="0">
              <a:buNone/>
            </a:pPr>
            <a:r>
              <a:rPr lang="en-US" sz="1400" dirty="0">
                <a:solidFill>
                  <a:schemeClr val="tx1"/>
                </a:solidFill>
              </a:rPr>
              <a:t>Frames where the tracker returns a pose</a:t>
            </a:r>
            <a:endParaRPr lang="en-US" sz="1800" dirty="0"/>
          </a:p>
        </p:txBody>
      </p:sp>
      <p:sp>
        <p:nvSpPr>
          <p:cNvPr id="18" name="Error under motion card"/>
          <p:cNvSpPr/>
          <p:nvPr/>
        </p:nvSpPr>
        <p:spPr>
          <a:xfrm>
            <a:off x="6492240" y="5074920"/>
            <a:ext cx="5120640" cy="1115568"/>
          </a:xfrm>
          <a:prstGeom prst="roundRect">
            <a:avLst>
              <a:gd name="adj" fmla="val 9836"/>
            </a:avLst>
          </a:prstGeom>
          <a:solidFill>
            <a:schemeClr val="bg2"/>
          </a:solidFill>
          <a:ln/>
        </p:spPr>
      </p:sp>
      <p:sp>
        <p:nvSpPr>
          <p:cNvPr id="19" name="Error under motion dot"/>
          <p:cNvSpPr/>
          <p:nvPr/>
        </p:nvSpPr>
        <p:spPr>
          <a:xfrm>
            <a:off x="6675120" y="5376672"/>
            <a:ext cx="512064" cy="512064"/>
          </a:xfrm>
          <a:prstGeom prst="ellipse">
            <a:avLst/>
          </a:prstGeom>
          <a:solidFill>
            <a:schemeClr val="tx2"/>
          </a:solidFill>
          <a:ln/>
        </p:spPr>
      </p:sp>
      <p:sp>
        <p:nvSpPr>
          <p:cNvPr id="20" name="Text 17"/>
          <p:cNvSpPr txBox="1"/>
          <p:nvPr/>
        </p:nvSpPr>
        <p:spPr>
          <a:xfrm>
            <a:off x="6675120" y="5376672"/>
            <a:ext cx="512064" cy="512064"/>
          </a:xfrm>
          <a:prstGeom prst="rect">
            <a:avLst/>
          </a:prstGeom>
          <a:noFill/>
          <a:ln/>
        </p:spPr>
        <p:txBody>
          <a:bodyPr wrap="square" lIns="0" tIns="0" rIns="0" bIns="0" rtlCol="0" anchor="ctr"/>
          <a:lstStyle/>
          <a:p>
            <a:pPr algn="ctr" indent="0" marL="0">
              <a:buNone/>
            </a:pPr>
            <a:r>
              <a:rPr lang="en-US" sz="1500" b="1" dirty="0">
                <a:solidFill>
                  <a:schemeClr val="bg1"/>
                </a:solidFill>
              </a:rPr>
              <a:t>mm</a:t>
            </a:r>
            <a:endParaRPr lang="en-US" sz="1500" dirty="0"/>
          </a:p>
        </p:txBody>
      </p:sp>
      <p:sp>
        <p:nvSpPr>
          <p:cNvPr id="21" name="Text 18"/>
          <p:cNvSpPr txBox="1"/>
          <p:nvPr/>
        </p:nvSpPr>
        <p:spPr>
          <a:xfrm>
            <a:off x="7360920" y="5166360"/>
            <a:ext cx="4114800" cy="932688"/>
          </a:xfrm>
          <a:prstGeom prst="rect">
            <a:avLst/>
          </a:prstGeom>
          <a:noFill/>
          <a:ln/>
        </p:spPr>
        <p:txBody>
          <a:bodyPr wrap="square" lIns="0" tIns="0" rIns="0" bIns="0" rtlCol="0" anchor="ctr"/>
          <a:lstStyle/>
          <a:p>
            <a:pPr indent="0" marL="0">
              <a:buNone/>
            </a:pPr>
            <a:r>
              <a:rPr lang="en-US" sz="1800" b="1" dirty="0">
                <a:solidFill>
                  <a:schemeClr val="tx2"/>
                </a:solidFill>
              </a:rPr>
              <a:t>Error under motion</a:t>
            </a:r>
            <a:endParaRPr lang="en-US" sz="1800" dirty="0"/>
          </a:p>
          <a:p>
            <a:pPr indent="0" marL="0">
              <a:buNone/>
            </a:pPr>
            <a:r>
              <a:rPr lang="en-US" sz="1400" dirty="0">
                <a:solidFill>
                  <a:schemeClr val="tx1"/>
                </a:solidFill>
              </a:rPr>
              <a:t>Grip point error per frame in T2 / T3</a:t>
            </a:r>
            <a:endParaRPr lang="en-US" sz="18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What the takes look like</a:t>
            </a:r>
            <a:endParaRPr lang="en-US" sz="3000" dirty="0"/>
          </a:p>
        </p:txBody>
      </p:sp>
      <p:sp>
        <p:nvSpPr>
          <p:cNvPr id="4" name="Text 1"/>
          <p:cNvSpPr txBox="1"/>
          <p:nvPr/>
        </p:nvSpPr>
        <p:spPr>
          <a:xfrm>
            <a:off x="548640" y="1143000"/>
            <a:ext cx="4224528" cy="310896"/>
          </a:xfrm>
          <a:prstGeom prst="rect">
            <a:avLst/>
          </a:prstGeom>
          <a:noFill/>
          <a:ln/>
        </p:spPr>
        <p:txBody>
          <a:bodyPr wrap="square" lIns="0" tIns="0" rIns="0" bIns="0" rtlCol="0" anchor="ctr"/>
          <a:lstStyle/>
          <a:p>
            <a:pPr indent="0" marL="0">
              <a:buNone/>
            </a:pPr>
            <a:r>
              <a:rPr lang="en-US" sz="1400" b="1" dirty="0">
                <a:solidFill>
                  <a:schemeClr val="tx2"/>
                </a:solidFill>
              </a:rPr>
              <a:t>T1 grid holds</a:t>
            </a:r>
            <a:pPr indent="0" marL="0">
              <a:buNone/>
            </a:pPr>
            <a:r>
              <a:rPr lang="en-US" sz="1400" dirty="0">
                <a:solidFill>
                  <a:schemeClr val="accent5"/>
                </a:solidFill>
              </a:rPr>
              <a:t>  8× speed</a:t>
            </a:r>
            <a:endParaRPr lang="en-US" sz="1400" dirty="0"/>
          </a:p>
        </p:txBody>
      </p:sp>
      <p:pic>
        <p:nvPicPr>
          <p:cNvPr id="3" name="2026-10-03_T1_grid_r1">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472184"/>
            <a:ext cx="4224528" cy="2376297"/>
          </a:xfrm>
          <a:prstGeom prst="rect">
            <a:avLst/>
          </a:prstGeom>
        </p:spPr>
      </p:pic>
      <p:sp>
        <p:nvSpPr>
          <p:cNvPr id="6" name="Text 2"/>
          <p:cNvSpPr txBox="1"/>
          <p:nvPr/>
        </p:nvSpPr>
        <p:spPr>
          <a:xfrm>
            <a:off x="4901184" y="1143000"/>
            <a:ext cx="4224528" cy="310896"/>
          </a:xfrm>
          <a:prstGeom prst="rect">
            <a:avLst/>
          </a:prstGeom>
          <a:noFill/>
          <a:ln/>
        </p:spPr>
        <p:txBody>
          <a:bodyPr wrap="square" lIns="0" tIns="0" rIns="0" bIns="0" rtlCol="0" anchor="ctr"/>
          <a:lstStyle/>
          <a:p>
            <a:pPr indent="0" marL="0">
              <a:buNone/>
            </a:pPr>
            <a:r>
              <a:rPr lang="en-US" sz="1400" b="1" dirty="0">
                <a:solidFill>
                  <a:schemeClr val="tx2"/>
                </a:solidFill>
              </a:rPr>
              <a:t>T2 circle, comfortable</a:t>
            </a:r>
            <a:pPr indent="0" marL="0">
              <a:buNone/>
            </a:pPr>
            <a:r>
              <a:rPr lang="en-US" sz="1400" dirty="0">
                <a:solidFill>
                  <a:schemeClr val="accent5"/>
                </a:solidFill>
              </a:rPr>
              <a:t>  1×</a:t>
            </a:r>
            <a:endParaRPr lang="en-US" sz="1400" dirty="0"/>
          </a:p>
        </p:txBody>
      </p:sp>
      <p:pic>
        <p:nvPicPr>
          <p:cNvPr id="6" name="2026-10-03_T2_circle_comfortable_r1">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4901184" y="1472184"/>
            <a:ext cx="4224528" cy="2376297"/>
          </a:xfrm>
          <a:prstGeom prst="rect">
            <a:avLst/>
          </a:prstGeom>
        </p:spPr>
      </p:pic>
      <p:sp>
        <p:nvSpPr>
          <p:cNvPr id="8" name="Text 3"/>
          <p:cNvSpPr txBox="1"/>
          <p:nvPr/>
        </p:nvSpPr>
        <p:spPr>
          <a:xfrm>
            <a:off x="548640" y="3976497"/>
            <a:ext cx="4224528" cy="310896"/>
          </a:xfrm>
          <a:prstGeom prst="rect">
            <a:avLst/>
          </a:prstGeom>
          <a:noFill/>
          <a:ln/>
        </p:spPr>
        <p:txBody>
          <a:bodyPr wrap="square" lIns="0" tIns="0" rIns="0" bIns="0" rtlCol="0" anchor="ctr"/>
          <a:lstStyle/>
          <a:p>
            <a:pPr indent="0" marL="0">
              <a:buNone/>
            </a:pPr>
            <a:r>
              <a:rPr lang="en-US" sz="1400" b="1" dirty="0">
                <a:solidFill>
                  <a:schemeClr val="tx2"/>
                </a:solidFill>
              </a:rPr>
              <a:t>T2 figure-eight, fast</a:t>
            </a:r>
            <a:pPr indent="0" marL="0">
              <a:buNone/>
            </a:pPr>
            <a:r>
              <a:rPr lang="en-US" sz="1400" dirty="0">
                <a:solidFill>
                  <a:schemeClr val="accent5"/>
                </a:solidFill>
              </a:rPr>
              <a:t>  1×</a:t>
            </a:r>
            <a:endParaRPr lang="en-US" sz="1400" dirty="0"/>
          </a:p>
        </p:txBody>
      </p:sp>
      <p:pic>
        <p:nvPicPr>
          <p:cNvPr id="9" name="2026-10-03_T2_eight_fast_r1">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548640" y="4305681"/>
            <a:ext cx="4224528" cy="2376297"/>
          </a:xfrm>
          <a:prstGeom prst="rect">
            <a:avLst/>
          </a:prstGeom>
        </p:spPr>
      </p:pic>
      <p:sp>
        <p:nvSpPr>
          <p:cNvPr id="10" name="Text 4"/>
          <p:cNvSpPr txBox="1"/>
          <p:nvPr/>
        </p:nvSpPr>
        <p:spPr>
          <a:xfrm>
            <a:off x="4901184" y="3976497"/>
            <a:ext cx="4224528" cy="310896"/>
          </a:xfrm>
          <a:prstGeom prst="rect">
            <a:avLst/>
          </a:prstGeom>
          <a:noFill/>
          <a:ln/>
        </p:spPr>
        <p:txBody>
          <a:bodyPr wrap="square" lIns="0" tIns="0" rIns="0" bIns="0" rtlCol="0" anchor="ctr"/>
          <a:lstStyle/>
          <a:p>
            <a:pPr indent="0" marL="0">
              <a:buNone/>
            </a:pPr>
            <a:r>
              <a:rPr lang="en-US" sz="1400" b="1" dirty="0">
                <a:solidFill>
                  <a:schemeClr val="tx2"/>
                </a:solidFill>
              </a:rPr>
              <a:t>T3 reaching, fast</a:t>
            </a:r>
            <a:pPr indent="0" marL="0">
              <a:buNone/>
            </a:pPr>
            <a:r>
              <a:rPr lang="en-US" sz="1400" dirty="0">
                <a:solidFill>
                  <a:schemeClr val="accent5"/>
                </a:solidFill>
              </a:rPr>
              <a:t>  1×</a:t>
            </a:r>
            <a:endParaRPr lang="en-US" sz="1400" dirty="0"/>
          </a:p>
        </p:txBody>
      </p:sp>
      <p:pic>
        <p:nvPicPr>
          <p:cNvPr id="12" name="2026-10-03_T3_fast_r1">
            <a:hlinkClick r:id="" action="ppaction://media"/>
          </p:cNvPr>
          <p:cNvPicPr>
            <a:picLocks noChangeAspect="1"/>
          </p:cNvPicPr>
          <p:nvPr>
            <a:videoFile r:link="rId10"/>
            <p:extLst>
              <p:ext uri="{DAA4B4D4-6D71-4841-9C94-3DE7FCFB9230}">
                <p14:media xmlns:p14="http://schemas.microsoft.com/office/powerpoint/2010/main" r:embed="rId11"/>
              </p:ext>
            </p:extLst>
          </p:nvPr>
        </p:nvPicPr>
        <p:blipFill>
          <a:blip r:embed="rId12"/>
          <a:stretch>
            <a:fillRect/>
          </a:stretch>
        </p:blipFill>
        <p:spPr>
          <a:xfrm>
            <a:off x="4901184" y="4305681"/>
            <a:ext cx="4224528" cy="2376297"/>
          </a:xfrm>
          <a:prstGeom prst="rect">
            <a:avLst/>
          </a:prstGeom>
        </p:spPr>
      </p:pic>
      <p:sp>
        <p:nvSpPr>
          <p:cNvPr id="12" name="points panel"/>
          <p:cNvSpPr/>
          <p:nvPr/>
        </p:nvSpPr>
        <p:spPr>
          <a:xfrm>
            <a:off x="9308592" y="1143000"/>
            <a:ext cx="2304288" cy="5120640"/>
          </a:xfrm>
          <a:prstGeom prst="roundRect">
            <a:avLst>
              <a:gd name="adj" fmla="val 4762"/>
            </a:avLst>
          </a:prstGeom>
          <a:solidFill>
            <a:schemeClr val="bg2"/>
          </a:solidFill>
          <a:ln/>
        </p:spPr>
      </p:sp>
      <p:sp>
        <p:nvSpPr>
          <p:cNvPr id="13" name="points"/>
          <p:cNvSpPr txBox="1"/>
          <p:nvPr/>
        </p:nvSpPr>
        <p:spPr>
          <a:xfrm>
            <a:off x="9509760" y="1325880"/>
            <a:ext cx="1901952" cy="475488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Left of each video: cam0 and cam1</a:t>
            </a:r>
            <a:endParaRPr lang="en-US" sz="1500" dirty="0"/>
          </a:p>
          <a:p>
            <a:pPr lvl="1" marL="355600" indent="-177800">
              <a:spcAft>
                <a:spcPts val="600"/>
              </a:spcAft>
              <a:buSzPct val="100000"/>
              <a:buChar char="•"/>
            </a:pPr>
            <a:r>
              <a:rPr lang="en-US" sz="1300" dirty="0">
                <a:solidFill>
                  <a:schemeClr val="accent5"/>
                </a:solidFill>
              </a:rPr>
              <a:t>yellow: tags the tracker found</a:t>
            </a:r>
            <a:endParaRPr lang="en-US" sz="1500" dirty="0"/>
          </a:p>
          <a:p>
            <a:pPr lvl="1" marL="355600" indent="-177800">
              <a:spcAft>
                <a:spcPts val="600"/>
              </a:spcAft>
              <a:buSzPct val="100000"/>
              <a:buChar char="•"/>
            </a:pPr>
            <a:r>
              <a:rPr lang="en-US" sz="1300" dirty="0">
                <a:solidFill>
                  <a:schemeClr val="accent5"/>
                </a:solidFill>
              </a:rPr>
              <a:t>blue ring: solved grip point</a:t>
            </a:r>
            <a:endParaRPr lang="en-US" sz="1500" dirty="0"/>
          </a:p>
          <a:p>
            <a:pPr lvl="1" marL="355600" indent="-177800">
              <a:spcAft>
                <a:spcPts val="600"/>
              </a:spcAft>
              <a:buSzPct val="100000"/>
              <a:buChar char="•"/>
            </a:pPr>
            <a:r>
              <a:rPr lang="en-US" sz="1300" dirty="0">
                <a:solidFill>
                  <a:schemeClr val="accent5"/>
                </a:solidFill>
              </a:rPr>
              <a:t>dim: last crop seen there (the recorder keeps only a crop around the device)</a:t>
            </a:r>
            <a:endParaRPr lang="en-US" sz="1500" dirty="0"/>
          </a:p>
          <a:p>
            <a:pPr marL="203200" indent="-203200">
              <a:spcAft>
                <a:spcPts val="600"/>
              </a:spcAft>
              <a:buSzPct val="100000"/>
              <a:buChar char="•"/>
            </a:pPr>
            <a:r>
              <a:rPr lang="en-US" sz="1500" dirty="0">
                <a:solidFill>
                  <a:schemeClr val="tx1"/>
                </a:solidFill>
              </a:rPr>
              <a:t>Right: table-plane path</a:t>
            </a:r>
            <a:endParaRPr lang="en-US" sz="1500" dirty="0"/>
          </a:p>
          <a:p>
            <a:pPr lvl="1" marL="355600" indent="-177800">
              <a:spcAft>
                <a:spcPts val="600"/>
              </a:spcAft>
              <a:buSzPct val="100000"/>
              <a:buChar char="•"/>
            </a:pPr>
            <a:r>
              <a:rPr lang="en-US" sz="1300" dirty="0">
                <a:solidFill>
                  <a:schemeClr val="accent5"/>
                </a:solidFill>
              </a:rPr>
              <a:t>black: mocap; blue: camera, both cameras + jig</a:t>
            </a:r>
            <a:endParaRPr lang="en-US" sz="1500" dirty="0"/>
          </a:p>
          <a:p>
            <a:pPr marL="203200" indent="-203200">
              <a:spcAft>
                <a:spcPts val="600"/>
              </a:spcAft>
              <a:buSzPct val="100000"/>
              <a:buChar char="•"/>
            </a:pPr>
            <a:r>
              <a:rPr lang="en-US" sz="1500" dirty="0">
                <a:solidFill>
                  <a:schemeClr val="tx1"/>
                </a:solidFill>
              </a:rPr>
              <a:t>Click a video to play</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Definition: grip point, axes and registration</a:t>
            </a:r>
            <a:endParaRPr lang="en-US" sz="3000" dirty="0"/>
          </a:p>
        </p:txBody>
      </p:sp>
      <p:sp>
        <p:nvSpPr>
          <p:cNvPr id="4" name="Positions and axes panel"/>
          <p:cNvSpPr/>
          <p:nvPr/>
        </p:nvSpPr>
        <p:spPr>
          <a:xfrm>
            <a:off x="548640" y="1234440"/>
            <a:ext cx="3566160" cy="5029200"/>
          </a:xfrm>
          <a:prstGeom prst="roundRect">
            <a:avLst>
              <a:gd name="adj" fmla="val 3077"/>
            </a:avLst>
          </a:prstGeom>
          <a:solidFill>
            <a:schemeClr val="bg2"/>
          </a:solidFill>
          <a:ln/>
        </p:spPr>
      </p:sp>
      <p:sp>
        <p:nvSpPr>
          <p:cNvPr id="5" name="Text 2"/>
          <p:cNvSpPr txBox="1"/>
          <p:nvPr/>
        </p:nvSpPr>
        <p:spPr>
          <a:xfrm>
            <a:off x="749808" y="1371600"/>
            <a:ext cx="3163824" cy="365760"/>
          </a:xfrm>
          <a:prstGeom prst="rect">
            <a:avLst/>
          </a:prstGeom>
          <a:noFill/>
          <a:ln/>
        </p:spPr>
        <p:txBody>
          <a:bodyPr wrap="square" lIns="0" tIns="0" rIns="0" bIns="0" rtlCol="0" anchor="ctr"/>
          <a:lstStyle/>
          <a:p>
            <a:pPr indent="0" marL="0">
              <a:buNone/>
            </a:pPr>
            <a:r>
              <a:rPr lang="en-US" sz="1700" b="1" dirty="0">
                <a:solidFill>
                  <a:schemeClr val="tx2"/>
                </a:solidFill>
              </a:rPr>
              <a:t>Positions and axes</a:t>
            </a:r>
            <a:endParaRPr lang="en-US" sz="1700" dirty="0"/>
          </a:p>
        </p:txBody>
      </p:sp>
      <p:sp>
        <p:nvSpPr>
          <p:cNvPr id="6" name="Positions and axes"/>
          <p:cNvSpPr txBox="1"/>
          <p:nvPr/>
        </p:nvSpPr>
        <p:spPr>
          <a:xfrm>
            <a:off x="749808" y="1801368"/>
            <a:ext cx="3163824" cy="429768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chemeClr val="tx1"/>
                </a:solidFill>
              </a:rPr>
              <a:t>Grip point: the point on the jig handle the game uses, from the solved jig pose</a:t>
            </a:r>
            <a:endParaRPr lang="en-US" sz="1450" dirty="0"/>
          </a:p>
          <a:p>
            <a:pPr marL="203200" indent="-203200">
              <a:spcAft>
                <a:spcPts val="600"/>
              </a:spcAft>
              <a:buSzPct val="100000"/>
              <a:buChar char="•"/>
            </a:pPr>
            <a:r>
              <a:rPr lang="en-US" sz="1450" dirty="0">
                <a:solidFill>
                  <a:schemeClr val="tx1"/>
                </a:solidFill>
              </a:rPr>
              <a:t>Mocap: Motive rigid body on the device, its grip point from the same offset</a:t>
            </a:r>
            <a:endParaRPr lang="en-US" sz="1450" dirty="0"/>
          </a:p>
          <a:p>
            <a:pPr marL="203200" indent="-203200">
              <a:spcAft>
                <a:spcPts val="600"/>
              </a:spcAft>
              <a:buSzPct val="100000"/>
              <a:buChar char="•"/>
            </a:pPr>
            <a:r>
              <a:rPr lang="en-US" sz="1450" dirty="0">
                <a:solidFill>
                  <a:schemeClr val="tx1"/>
                </a:solidFill>
              </a:rPr>
              <a:t>Mocap axes (Motive, Y up): X across the table, Z depth, Y height</a:t>
            </a:r>
            <a:endParaRPr lang="en-US" sz="1450" dirty="0"/>
          </a:p>
          <a:p>
            <a:pPr marL="203200" indent="-203200">
              <a:spcAft>
                <a:spcPts val="600"/>
              </a:spcAft>
              <a:buSzPct val="100000"/>
              <a:buChar char="•"/>
            </a:pPr>
            <a:r>
              <a:rPr lang="en-US" sz="1450" dirty="0">
                <a:solidFill>
                  <a:schemeClr val="tx1"/>
                </a:solidFill>
              </a:rPr>
              <a:t>Cameras sit at mocap Z ≈ 600 mm; larger Z is closer to them</a:t>
            </a:r>
            <a:endParaRPr lang="en-US" sz="1450" dirty="0"/>
          </a:p>
          <a:p>
            <a:pPr marL="203200" indent="-203200">
              <a:spcAft>
                <a:spcPts val="600"/>
              </a:spcAft>
              <a:buSzPct val="100000"/>
              <a:buChar char="•"/>
            </a:pPr>
            <a:r>
              <a:rPr lang="en-US" sz="1450" dirty="0">
                <a:solidFill>
                  <a:schemeClr val="tx1"/>
                </a:solidFill>
              </a:rPr>
              <a:t>Scored in the table plane (X, Z); height is left out because the game uses the table plane</a:t>
            </a:r>
            <a:endParaRPr lang="en-US" sz="1450" dirty="0"/>
          </a:p>
        </p:txBody>
      </p:sp>
      <p:sp>
        <p:nvSpPr>
          <p:cNvPr id="7" name="Registration panel"/>
          <p:cNvSpPr/>
          <p:nvPr/>
        </p:nvSpPr>
        <p:spPr>
          <a:xfrm>
            <a:off x="4297680" y="1234440"/>
            <a:ext cx="3566160" cy="5029200"/>
          </a:xfrm>
          <a:prstGeom prst="roundRect">
            <a:avLst>
              <a:gd name="adj" fmla="val 3077"/>
            </a:avLst>
          </a:prstGeom>
          <a:solidFill>
            <a:schemeClr val="bg2"/>
          </a:solidFill>
          <a:ln/>
        </p:spPr>
      </p:sp>
      <p:sp>
        <p:nvSpPr>
          <p:cNvPr id="8" name="Text 5"/>
          <p:cNvSpPr txBox="1"/>
          <p:nvPr/>
        </p:nvSpPr>
        <p:spPr>
          <a:xfrm>
            <a:off x="4498848" y="1371600"/>
            <a:ext cx="3163824" cy="365760"/>
          </a:xfrm>
          <a:prstGeom prst="rect">
            <a:avLst/>
          </a:prstGeom>
          <a:noFill/>
          <a:ln/>
        </p:spPr>
        <p:txBody>
          <a:bodyPr wrap="square" lIns="0" tIns="0" rIns="0" bIns="0" rtlCol="0" anchor="ctr"/>
          <a:lstStyle/>
          <a:p>
            <a:pPr indent="0" marL="0">
              <a:buNone/>
            </a:pPr>
            <a:r>
              <a:rPr lang="en-US" sz="1700" b="1" dirty="0">
                <a:solidFill>
                  <a:schemeClr val="tx2"/>
                </a:solidFill>
              </a:rPr>
              <a:t>Registration</a:t>
            </a:r>
            <a:endParaRPr lang="en-US" sz="1700" dirty="0"/>
          </a:p>
        </p:txBody>
      </p:sp>
      <p:sp>
        <p:nvSpPr>
          <p:cNvPr id="9" name="Registration"/>
          <p:cNvSpPr txBox="1"/>
          <p:nvPr/>
        </p:nvSpPr>
        <p:spPr>
          <a:xfrm>
            <a:off x="4498848" y="1801368"/>
            <a:ext cx="3163824" cy="429768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chemeClr val="tx1"/>
                </a:solidFill>
              </a:rPr>
              <a:t>Camera and mocap use different axes: a fixed rotation + translation maps camera to mocap</a:t>
            </a:r>
            <a:endParaRPr lang="en-US" sz="1450" dirty="0"/>
          </a:p>
          <a:p>
            <a:pPr marL="203200" indent="-203200">
              <a:spcAft>
                <a:spcPts val="600"/>
              </a:spcAft>
              <a:buSzPct val="100000"/>
              <a:buChar char="•"/>
            </a:pPr>
            <a:r>
              <a:rPr lang="en-US" sz="1450" dirty="0">
                <a:solidFill>
                  <a:schemeClr val="tx1"/>
                </a:solidFill>
              </a:rPr>
              <a:t>Plus the grip offset inside the mocap body: 9 parameters, no scale</a:t>
            </a:r>
            <a:endParaRPr lang="en-US" sz="1450" dirty="0"/>
          </a:p>
          <a:p>
            <a:pPr marL="203200" indent="-203200">
              <a:spcAft>
                <a:spcPts val="600"/>
              </a:spcAft>
              <a:buSzPct val="100000"/>
              <a:buChar char="•"/>
            </a:pPr>
            <a:r>
              <a:rPr lang="en-US" sz="1450" dirty="0">
                <a:solidFill>
                  <a:schemeClr val="tx1"/>
                </a:solidFill>
              </a:rPr>
              <a:t>Fitted on the T1 hold averages of one run, scored on the other run (held-out)</a:t>
            </a:r>
            <a:endParaRPr lang="en-US" sz="1450" dirty="0"/>
          </a:p>
          <a:p>
            <a:pPr marL="203200" indent="-203200">
              <a:spcAft>
                <a:spcPts val="600"/>
              </a:spcAft>
              <a:buSzPct val="100000"/>
              <a:buChar char="•"/>
            </a:pPr>
            <a:r>
              <a:rPr lang="en-US" sz="1450" dirty="0">
                <a:solidFill>
                  <a:schemeClr val="tx1"/>
                </a:solidFill>
              </a:rPr>
              <a:t>T2 / T3: fitted on both T1 runs, then frozen</a:t>
            </a:r>
            <a:endParaRPr lang="en-US" sz="1450" dirty="0"/>
          </a:p>
          <a:p>
            <a:pPr marL="203200" indent="-203200">
              <a:spcAft>
                <a:spcPts val="600"/>
              </a:spcAft>
              <a:buSzPct val="100000"/>
              <a:buChar char="•"/>
            </a:pPr>
            <a:r>
              <a:rPr lang="en-US" sz="1450" dirty="0">
                <a:solidFill>
                  <a:schemeClr val="tx1"/>
                </a:solidFill>
              </a:rPr>
              <a:t>Diwakar's own 13-parameter fit (with a free scale) is compared separately</a:t>
            </a:r>
            <a:endParaRPr lang="en-US" sz="1450" dirty="0"/>
          </a:p>
        </p:txBody>
      </p:sp>
      <p:sp>
        <p:nvSpPr>
          <p:cNvPr id="10" name="Time sync panel"/>
          <p:cNvSpPr/>
          <p:nvPr/>
        </p:nvSpPr>
        <p:spPr>
          <a:xfrm>
            <a:off x="8046720" y="1234440"/>
            <a:ext cx="3566160" cy="5029200"/>
          </a:xfrm>
          <a:prstGeom prst="roundRect">
            <a:avLst>
              <a:gd name="adj" fmla="val 3077"/>
            </a:avLst>
          </a:prstGeom>
          <a:solidFill>
            <a:schemeClr val="bg2"/>
          </a:solidFill>
          <a:ln/>
        </p:spPr>
      </p:sp>
      <p:sp>
        <p:nvSpPr>
          <p:cNvPr id="11" name="Text 8"/>
          <p:cNvSpPr txBox="1"/>
          <p:nvPr/>
        </p:nvSpPr>
        <p:spPr>
          <a:xfrm>
            <a:off x="8247888" y="1371600"/>
            <a:ext cx="3163824" cy="365760"/>
          </a:xfrm>
          <a:prstGeom prst="rect">
            <a:avLst/>
          </a:prstGeom>
          <a:noFill/>
          <a:ln/>
        </p:spPr>
        <p:txBody>
          <a:bodyPr wrap="square" lIns="0" tIns="0" rIns="0" bIns="0" rtlCol="0" anchor="ctr"/>
          <a:lstStyle/>
          <a:p>
            <a:pPr indent="0" marL="0">
              <a:buNone/>
            </a:pPr>
            <a:r>
              <a:rPr lang="en-US" sz="1700" b="1" dirty="0">
                <a:solidFill>
                  <a:schemeClr val="tx2"/>
                </a:solidFill>
              </a:rPr>
              <a:t>Time sync</a:t>
            </a:r>
            <a:endParaRPr lang="en-US" sz="1700" dirty="0"/>
          </a:p>
        </p:txBody>
      </p:sp>
      <p:sp>
        <p:nvSpPr>
          <p:cNvPr id="12" name="Time sync"/>
          <p:cNvSpPr txBox="1"/>
          <p:nvPr/>
        </p:nvSpPr>
        <p:spPr>
          <a:xfrm>
            <a:off x="8247888" y="1801368"/>
            <a:ext cx="3163824" cy="429768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chemeClr val="tx1"/>
                </a:solidFill>
              </a:rPr>
              <a:t>The camera board logs every rising edge of Motive's sync pin; edge k = mocap frame k (100 Hz)</a:t>
            </a:r>
            <a:endParaRPr lang="en-US" sz="1450" dirty="0"/>
          </a:p>
          <a:p>
            <a:pPr marL="203200" indent="-203200">
              <a:spcAft>
                <a:spcPts val="600"/>
              </a:spcAft>
              <a:buSzPct val="100000"/>
              <a:buChar char="•"/>
            </a:pPr>
            <a:r>
              <a:rPr lang="en-US" sz="1450" dirty="0">
                <a:solidFill>
                  <a:schemeClr val="tx1"/>
                </a:solidFill>
              </a:rPr>
              <a:t>Each camera frame reads the mocap pose interpolated at its own timestamp</a:t>
            </a:r>
            <a:endParaRPr lang="en-US" sz="1450" dirty="0"/>
          </a:p>
          <a:p>
            <a:pPr marL="203200" indent="-203200">
              <a:spcAft>
                <a:spcPts val="600"/>
              </a:spcAft>
              <a:buSzPct val="100000"/>
              <a:buChar char="•"/>
            </a:pPr>
            <a:r>
              <a:rPr lang="en-US" sz="1450" dirty="0">
                <a:solidFill>
                  <a:schemeClr val="tx1"/>
                </a:solidFill>
              </a:rPr>
              <a:t>Mocap jumps &gt; 20 mm in one frame (rigid-body swaps) count as gaps</a:t>
            </a:r>
            <a:endParaRPr lang="en-US" sz="1450" dirty="0"/>
          </a:p>
          <a:p>
            <a:pPr marL="203200" indent="-203200">
              <a:spcAft>
                <a:spcPts val="600"/>
              </a:spcAft>
              <a:buSzPct val="100000"/>
              <a:buChar char="•"/>
            </a:pPr>
            <a:r>
              <a:rPr lang="en-US" sz="1450" dirty="0">
                <a:solidFill>
                  <a:schemeClr val="tx1"/>
                </a:solidFill>
              </a:rPr>
              <a:t>The two cameras' frame timestamps agree within 0.1 ms</a:t>
            </a:r>
            <a:endParaRPr lang="en-US" sz="14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Definition: four corner refinements</a:t>
            </a:r>
            <a:endParaRPr lang="en-US" sz="3000" dirty="0"/>
          </a:p>
        </p:txBody>
      </p:sp>
      <p:sp>
        <p:nvSpPr>
          <p:cNvPr id="4" name="No refine card"/>
          <p:cNvSpPr/>
          <p:nvPr/>
        </p:nvSpPr>
        <p:spPr>
          <a:xfrm>
            <a:off x="548640" y="1188720"/>
            <a:ext cx="2606040" cy="1600200"/>
          </a:xfrm>
          <a:prstGeom prst="roundRect">
            <a:avLst>
              <a:gd name="adj" fmla="val 6857"/>
            </a:avLst>
          </a:prstGeom>
          <a:solidFill>
            <a:schemeClr val="bg2"/>
          </a:solidFill>
          <a:ln/>
        </p:spPr>
      </p:sp>
      <p:sp>
        <p:nvSpPr>
          <p:cNvPr id="5" name="No refine dot"/>
          <p:cNvSpPr/>
          <p:nvPr/>
        </p:nvSpPr>
        <p:spPr>
          <a:xfrm>
            <a:off x="749808" y="1371600"/>
            <a:ext cx="365760" cy="365760"/>
          </a:xfrm>
          <a:prstGeom prst="ellipse">
            <a:avLst/>
          </a:prstGeom>
          <a:solidFill>
            <a:srgbClr val="009E73"/>
          </a:solidFill>
          <a:ln/>
        </p:spPr>
      </p:sp>
      <p:sp>
        <p:nvSpPr>
          <p:cNvPr id="6" name="Text 3"/>
          <p:cNvSpPr txBox="1"/>
          <p:nvPr/>
        </p:nvSpPr>
        <p:spPr>
          <a:xfrm>
            <a:off x="1234440" y="1344168"/>
            <a:ext cx="1828800" cy="420624"/>
          </a:xfrm>
          <a:prstGeom prst="rect">
            <a:avLst/>
          </a:prstGeom>
          <a:noFill/>
          <a:ln/>
        </p:spPr>
        <p:txBody>
          <a:bodyPr wrap="square" lIns="0" tIns="0" rIns="0" bIns="0" rtlCol="0" anchor="ctr"/>
          <a:lstStyle/>
          <a:p>
            <a:pPr indent="0" marL="0">
              <a:buNone/>
            </a:pPr>
            <a:r>
              <a:rPr lang="en-US" sz="1700" b="1" dirty="0">
                <a:solidFill>
                  <a:schemeClr val="tx2"/>
                </a:solidFill>
              </a:rPr>
              <a:t>No refine</a:t>
            </a:r>
            <a:endParaRPr lang="en-US" sz="1700" dirty="0"/>
          </a:p>
        </p:txBody>
      </p:sp>
      <p:sp>
        <p:nvSpPr>
          <p:cNvPr id="7" name="Text 4"/>
          <p:cNvSpPr txBox="1"/>
          <p:nvPr/>
        </p:nvSpPr>
        <p:spPr>
          <a:xfrm>
            <a:off x="749808" y="1874520"/>
            <a:ext cx="2240280" cy="868680"/>
          </a:xfrm>
          <a:prstGeom prst="rect">
            <a:avLst/>
          </a:prstGeom>
          <a:noFill/>
          <a:ln/>
        </p:spPr>
        <p:txBody>
          <a:bodyPr wrap="square" lIns="0" tIns="0" rIns="0" bIns="0" rtlCol="0" anchor="t"/>
          <a:lstStyle/>
          <a:p>
            <a:pPr indent="0" marL="0">
              <a:buNone/>
            </a:pPr>
            <a:r>
              <a:rPr lang="en-US" sz="1350" dirty="0">
                <a:solidFill>
                  <a:schemeClr val="tx1"/>
                </a:solidFill>
              </a:rPr>
              <a:t>OpenCV adaptive-threshold quad corners, no sub-pixel step</a:t>
            </a:r>
            <a:endParaRPr lang="en-US" sz="1350" dirty="0"/>
          </a:p>
        </p:txBody>
      </p:sp>
      <p:sp>
        <p:nvSpPr>
          <p:cNvPr id="8" name="OpenCV contour card"/>
          <p:cNvSpPr/>
          <p:nvPr/>
        </p:nvSpPr>
        <p:spPr>
          <a:xfrm>
            <a:off x="3383280" y="1188720"/>
            <a:ext cx="2606040" cy="1600200"/>
          </a:xfrm>
          <a:prstGeom prst="roundRect">
            <a:avLst>
              <a:gd name="adj" fmla="val 6857"/>
            </a:avLst>
          </a:prstGeom>
          <a:solidFill>
            <a:schemeClr val="bg2"/>
          </a:solidFill>
          <a:ln/>
        </p:spPr>
      </p:sp>
      <p:sp>
        <p:nvSpPr>
          <p:cNvPr id="9" name="OpenCV contour dot"/>
          <p:cNvSpPr/>
          <p:nvPr/>
        </p:nvSpPr>
        <p:spPr>
          <a:xfrm>
            <a:off x="3584448" y="1371600"/>
            <a:ext cx="365760" cy="365760"/>
          </a:xfrm>
          <a:prstGeom prst="ellipse">
            <a:avLst/>
          </a:prstGeom>
          <a:solidFill>
            <a:srgbClr val="E69F00"/>
          </a:solidFill>
          <a:ln/>
        </p:spPr>
      </p:sp>
      <p:sp>
        <p:nvSpPr>
          <p:cNvPr id="10" name="Text 7"/>
          <p:cNvSpPr txBox="1"/>
          <p:nvPr/>
        </p:nvSpPr>
        <p:spPr>
          <a:xfrm>
            <a:off x="4069080" y="1344168"/>
            <a:ext cx="1828800" cy="420624"/>
          </a:xfrm>
          <a:prstGeom prst="rect">
            <a:avLst/>
          </a:prstGeom>
          <a:noFill/>
          <a:ln/>
        </p:spPr>
        <p:txBody>
          <a:bodyPr wrap="square" lIns="0" tIns="0" rIns="0" bIns="0" rtlCol="0" anchor="ctr"/>
          <a:lstStyle/>
          <a:p>
            <a:pPr indent="0" marL="0">
              <a:buNone/>
            </a:pPr>
            <a:r>
              <a:rPr lang="en-US" sz="1700" b="1" dirty="0">
                <a:solidFill>
                  <a:schemeClr val="tx2"/>
                </a:solidFill>
              </a:rPr>
              <a:t>OpenCV contour</a:t>
            </a:r>
            <a:endParaRPr lang="en-US" sz="1700" dirty="0"/>
          </a:p>
        </p:txBody>
      </p:sp>
      <p:sp>
        <p:nvSpPr>
          <p:cNvPr id="11" name="Text 8"/>
          <p:cNvSpPr txBox="1"/>
          <p:nvPr/>
        </p:nvSpPr>
        <p:spPr>
          <a:xfrm>
            <a:off x="3584448" y="1874520"/>
            <a:ext cx="2240280" cy="868680"/>
          </a:xfrm>
          <a:prstGeom prst="rect">
            <a:avLst/>
          </a:prstGeom>
          <a:noFill/>
          <a:ln/>
        </p:spPr>
        <p:txBody>
          <a:bodyPr wrap="square" lIns="0" tIns="0" rIns="0" bIns="0" rtlCol="0" anchor="t"/>
          <a:lstStyle/>
          <a:p>
            <a:pPr indent="0" marL="0">
              <a:buNone/>
            </a:pPr>
            <a:r>
              <a:rPr lang="en-US" sz="1350" dirty="0">
                <a:solidFill>
                  <a:schemeClr val="tx1"/>
                </a:solidFill>
              </a:rPr>
              <a:t>CORNER_REFINE_CONTOUR: line fit along the quad contour</a:t>
            </a:r>
            <a:endParaRPr lang="en-US" sz="1350" dirty="0"/>
          </a:p>
        </p:txBody>
      </p:sp>
      <p:sp>
        <p:nvSpPr>
          <p:cNvPr id="12" name="Diwakar edge card"/>
          <p:cNvSpPr/>
          <p:nvPr/>
        </p:nvSpPr>
        <p:spPr>
          <a:xfrm>
            <a:off x="6217920" y="1188720"/>
            <a:ext cx="2606040" cy="1600200"/>
          </a:xfrm>
          <a:prstGeom prst="roundRect">
            <a:avLst>
              <a:gd name="adj" fmla="val 6857"/>
            </a:avLst>
          </a:prstGeom>
          <a:solidFill>
            <a:schemeClr val="bg2"/>
          </a:solidFill>
          <a:ln/>
        </p:spPr>
      </p:sp>
      <p:sp>
        <p:nvSpPr>
          <p:cNvPr id="13" name="Diwakar edge dot"/>
          <p:cNvSpPr/>
          <p:nvPr/>
        </p:nvSpPr>
        <p:spPr>
          <a:xfrm>
            <a:off x="6419088" y="1371600"/>
            <a:ext cx="365760" cy="365760"/>
          </a:xfrm>
          <a:prstGeom prst="ellipse">
            <a:avLst/>
          </a:prstGeom>
          <a:solidFill>
            <a:srgbClr val="0072B2"/>
          </a:solidFill>
          <a:ln/>
        </p:spPr>
      </p:sp>
      <p:sp>
        <p:nvSpPr>
          <p:cNvPr id="14" name="Text 11"/>
          <p:cNvSpPr txBox="1"/>
          <p:nvPr/>
        </p:nvSpPr>
        <p:spPr>
          <a:xfrm>
            <a:off x="6903720" y="1344168"/>
            <a:ext cx="1828800" cy="420624"/>
          </a:xfrm>
          <a:prstGeom prst="rect">
            <a:avLst/>
          </a:prstGeom>
          <a:noFill/>
          <a:ln/>
        </p:spPr>
        <p:txBody>
          <a:bodyPr wrap="square" lIns="0" tIns="0" rIns="0" bIns="0" rtlCol="0" anchor="ctr"/>
          <a:lstStyle/>
          <a:p>
            <a:pPr indent="0" marL="0">
              <a:buNone/>
            </a:pPr>
            <a:r>
              <a:rPr lang="en-US" sz="1700" b="1" dirty="0">
                <a:solidFill>
                  <a:schemeClr val="tx2"/>
                </a:solidFill>
              </a:rPr>
              <a:t>Diwakar edge</a:t>
            </a:r>
            <a:endParaRPr lang="en-US" sz="1700" dirty="0"/>
          </a:p>
        </p:txBody>
      </p:sp>
      <p:sp>
        <p:nvSpPr>
          <p:cNvPr id="15" name="Text 12"/>
          <p:cNvSpPr txBox="1"/>
          <p:nvPr/>
        </p:nvSpPr>
        <p:spPr>
          <a:xfrm>
            <a:off x="6419088" y="1874520"/>
            <a:ext cx="2240280" cy="868680"/>
          </a:xfrm>
          <a:prstGeom prst="rect">
            <a:avLst/>
          </a:prstGeom>
          <a:noFill/>
          <a:ln/>
        </p:spPr>
        <p:txBody>
          <a:bodyPr wrap="square" lIns="0" tIns="0" rIns="0" bIns="0" rtlCol="0" anchor="t"/>
          <a:lstStyle/>
          <a:p>
            <a:pPr indent="0" marL="0">
              <a:buNone/>
            </a:pPr>
            <a:r>
              <a:rPr lang="en-US" sz="1350" dirty="0">
                <a:solidFill>
                  <a:schemeClr val="tx1"/>
                </a:solidFill>
              </a:rPr>
              <a:t>Contour + gradient line fit on the tag edges (the shipped tracker)</a:t>
            </a:r>
            <a:endParaRPr lang="en-US" sz="1350" dirty="0"/>
          </a:p>
        </p:txBody>
      </p:sp>
      <p:sp>
        <p:nvSpPr>
          <p:cNvPr id="16" name="AprilTag refine card"/>
          <p:cNvSpPr/>
          <p:nvPr/>
        </p:nvSpPr>
        <p:spPr>
          <a:xfrm>
            <a:off x="9052560" y="1188720"/>
            <a:ext cx="2606040" cy="1600200"/>
          </a:xfrm>
          <a:prstGeom prst="roundRect">
            <a:avLst>
              <a:gd name="adj" fmla="val 6857"/>
            </a:avLst>
          </a:prstGeom>
          <a:solidFill>
            <a:schemeClr val="bg2"/>
          </a:solidFill>
          <a:ln/>
        </p:spPr>
      </p:sp>
      <p:sp>
        <p:nvSpPr>
          <p:cNvPr id="17" name="AprilTag refine dot"/>
          <p:cNvSpPr/>
          <p:nvPr/>
        </p:nvSpPr>
        <p:spPr>
          <a:xfrm>
            <a:off x="9253728" y="1371600"/>
            <a:ext cx="365760" cy="365760"/>
          </a:xfrm>
          <a:prstGeom prst="ellipse">
            <a:avLst/>
          </a:prstGeom>
          <a:solidFill>
            <a:srgbClr val="D55E00"/>
          </a:solidFill>
          <a:ln/>
        </p:spPr>
      </p:sp>
      <p:sp>
        <p:nvSpPr>
          <p:cNvPr id="18" name="Text 15"/>
          <p:cNvSpPr txBox="1"/>
          <p:nvPr/>
        </p:nvSpPr>
        <p:spPr>
          <a:xfrm>
            <a:off x="9738360" y="1344168"/>
            <a:ext cx="1828800" cy="420624"/>
          </a:xfrm>
          <a:prstGeom prst="rect">
            <a:avLst/>
          </a:prstGeom>
          <a:noFill/>
          <a:ln/>
        </p:spPr>
        <p:txBody>
          <a:bodyPr wrap="square" lIns="0" tIns="0" rIns="0" bIns="0" rtlCol="0" anchor="ctr"/>
          <a:lstStyle/>
          <a:p>
            <a:pPr indent="0" marL="0">
              <a:buNone/>
            </a:pPr>
            <a:r>
              <a:rPr lang="en-US" sz="1700" b="1" dirty="0">
                <a:solidFill>
                  <a:schemeClr val="tx2"/>
                </a:solidFill>
              </a:rPr>
              <a:t>AprilTag refine</a:t>
            </a:r>
            <a:endParaRPr lang="en-US" sz="1700" dirty="0"/>
          </a:p>
        </p:txBody>
      </p:sp>
      <p:sp>
        <p:nvSpPr>
          <p:cNvPr id="19" name="Text 16"/>
          <p:cNvSpPr txBox="1"/>
          <p:nvPr/>
        </p:nvSpPr>
        <p:spPr>
          <a:xfrm>
            <a:off x="9253728" y="1874520"/>
            <a:ext cx="2240280" cy="868680"/>
          </a:xfrm>
          <a:prstGeom prst="rect">
            <a:avLst/>
          </a:prstGeom>
          <a:noFill/>
          <a:ln/>
        </p:spPr>
        <p:txBody>
          <a:bodyPr wrap="square" lIns="0" tIns="0" rIns="0" bIns="0" rtlCol="0" anchor="t"/>
          <a:lstStyle/>
          <a:p>
            <a:pPr indent="0" marL="0">
              <a:buNone/>
            </a:pPr>
            <a:r>
              <a:rPr lang="en-US" sz="1350" dirty="0">
                <a:solidFill>
                  <a:schemeClr val="tx1"/>
                </a:solidFill>
              </a:rPr>
              <a:t>rapidtag CORNER_REFINE_APRILTAG (AprilTag library edge fit)</a:t>
            </a:r>
            <a:endParaRPr lang="en-US" sz="1350" dirty="0"/>
          </a:p>
        </p:txBody>
      </p:sp>
      <p:pic>
        <p:nvPicPr>
          <p:cNvPr id="20" name="corner_offset.png" descr="Box plots of corner offset in pixels and tag size difference in percent, each refinement against Diwakar edge">    </p:cNvPr>
          <p:cNvPicPr>
            <a:picLocks noChangeAspect="1"/>
          </p:cNvPicPr>
          <p:nvPr/>
        </p:nvPicPr>
        <p:blipFill>
          <a:blip r:embed="rId1"/>
          <a:stretch>
            <a:fillRect/>
          </a:stretch>
        </p:blipFill>
        <p:spPr>
          <a:xfrm>
            <a:off x="548640" y="2971800"/>
            <a:ext cx="6400800" cy="2697703"/>
          </a:xfrm>
          <a:prstGeom prst="rect">
            <a:avLst/>
          </a:prstGeom>
        </p:spPr>
      </p:pic>
      <p:sp>
        <p:nvSpPr>
          <p:cNvPr id="21" name="caption"/>
          <p:cNvSpPr txBox="1"/>
          <p:nvPr/>
        </p:nvSpPr>
        <p:spPr>
          <a:xfrm>
            <a:off x="548640" y="5706079"/>
            <a:ext cx="6400800" cy="274320"/>
          </a:xfrm>
          <a:prstGeom prst="rect">
            <a:avLst/>
          </a:prstGeom>
          <a:noFill/>
          <a:ln/>
        </p:spPr>
        <p:txBody>
          <a:bodyPr wrap="square" lIns="0" tIns="0" rIns="0" bIns="0" rtlCol="0" anchor="ctr"/>
          <a:lstStyle/>
          <a:p>
            <a:pPr indent="0" marL="0">
              <a:buNone/>
            </a:pPr>
            <a:r>
              <a:rPr lang="en-US" sz="1150" i="1" dirty="0">
                <a:solidFill>
                  <a:schemeClr val="accent5"/>
                </a:solidFill>
              </a:rPr>
              <a:t>Same tag, same frame, against Diwakar edge corners · box = middle 50 % · whiskers = 5th–95th percentile</a:t>
            </a:r>
            <a:endParaRPr lang="en-US" sz="1150" dirty="0"/>
          </a:p>
        </p:txBody>
      </p:sp>
      <p:sp>
        <p:nvSpPr>
          <p:cNvPr id="22" name="points panel"/>
          <p:cNvSpPr/>
          <p:nvPr/>
        </p:nvSpPr>
        <p:spPr>
          <a:xfrm>
            <a:off x="7178040" y="2971800"/>
            <a:ext cx="4434840" cy="3291840"/>
          </a:xfrm>
          <a:prstGeom prst="roundRect">
            <a:avLst>
              <a:gd name="adj" fmla="val 3333"/>
            </a:avLst>
          </a:prstGeom>
          <a:solidFill>
            <a:schemeClr val="bg2"/>
          </a:solidFill>
          <a:ln/>
        </p:spPr>
      </p:sp>
      <p:sp>
        <p:nvSpPr>
          <p:cNvPr id="23" name="points"/>
          <p:cNvSpPr txBox="1"/>
          <p:nvPr/>
        </p:nvSpPr>
        <p:spPr>
          <a:xfrm>
            <a:off x="7379208" y="3154680"/>
            <a:ext cx="4032504" cy="292608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Every refinement moves corners 0.7–1.0 px from Diwakar edge (median)</a:t>
            </a:r>
            <a:endParaRPr lang="en-US" sz="1500" dirty="0"/>
          </a:p>
          <a:p>
            <a:pPr marL="203200" indent="-203200">
              <a:spcAft>
                <a:spcPts val="600"/>
              </a:spcAft>
              <a:buSzPct val="100000"/>
              <a:buChar char="•"/>
            </a:pPr>
            <a:r>
              <a:rPr lang="en-US" sz="1500" dirty="0">
                <a:solidFill>
                  <a:schemeClr val="tx1"/>
                </a:solidFill>
              </a:rPr>
              <a:t>No refine and contour shrink tags by 1.8 %: a scale bias, since tag size sets distance</a:t>
            </a:r>
            <a:endParaRPr lang="en-US" sz="1500" dirty="0"/>
          </a:p>
          <a:p>
            <a:pPr marL="203200" indent="-203200">
              <a:spcAft>
                <a:spcPts val="600"/>
              </a:spcAft>
              <a:buSzPct val="100000"/>
              <a:buChar char="•"/>
            </a:pPr>
            <a:r>
              <a:rPr lang="en-US" sz="1500" dirty="0">
                <a:solidFill>
                  <a:schemeClr val="tx1"/>
                </a:solidFill>
              </a:rPr>
              <a:t>AprilTag refine matches Diwakar edge's tag size within 0.06 %</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Definition: solvers, rigid body and scoring</a:t>
            </a:r>
            <a:endParaRPr lang="en-US" sz="3000" dirty="0"/>
          </a:p>
        </p:txBody>
      </p:sp>
      <p:sp>
        <p:nvSpPr>
          <p:cNvPr id="4" name="Solvers and rigid body panel"/>
          <p:cNvSpPr/>
          <p:nvPr/>
        </p:nvSpPr>
        <p:spPr>
          <a:xfrm>
            <a:off x="548640" y="1234440"/>
            <a:ext cx="5440680" cy="2240280"/>
          </a:xfrm>
          <a:prstGeom prst="roundRect">
            <a:avLst>
              <a:gd name="adj" fmla="val 4898"/>
            </a:avLst>
          </a:prstGeom>
          <a:solidFill>
            <a:schemeClr val="bg2"/>
          </a:solidFill>
          <a:ln/>
        </p:spPr>
      </p:sp>
      <p:sp>
        <p:nvSpPr>
          <p:cNvPr id="5" name="Text 2"/>
          <p:cNvSpPr txBox="1"/>
          <p:nvPr/>
        </p:nvSpPr>
        <p:spPr>
          <a:xfrm>
            <a:off x="749808" y="1371600"/>
            <a:ext cx="5038344" cy="365760"/>
          </a:xfrm>
          <a:prstGeom prst="rect">
            <a:avLst/>
          </a:prstGeom>
          <a:noFill/>
          <a:ln/>
        </p:spPr>
        <p:txBody>
          <a:bodyPr wrap="square" lIns="0" tIns="0" rIns="0" bIns="0" rtlCol="0" anchor="ctr"/>
          <a:lstStyle/>
          <a:p>
            <a:pPr indent="0" marL="0">
              <a:buNone/>
            </a:pPr>
            <a:r>
              <a:rPr lang="en-US" sz="1700" b="1" dirty="0">
                <a:solidFill>
                  <a:schemeClr val="tx2"/>
                </a:solidFill>
              </a:rPr>
              <a:t>Solvers and rigid body</a:t>
            </a:r>
            <a:endParaRPr lang="en-US" sz="1700" dirty="0"/>
          </a:p>
        </p:txBody>
      </p:sp>
      <p:sp>
        <p:nvSpPr>
          <p:cNvPr id="6" name="Solvers and rigid body"/>
          <p:cNvSpPr txBox="1"/>
          <p:nvPr/>
        </p:nvSpPr>
        <p:spPr>
          <a:xfrm>
            <a:off x="749808" y="1801368"/>
            <a:ext cx="5038344" cy="150876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chemeClr val="tx1"/>
                </a:solidFill>
              </a:rPr>
              <a:t>cam0 only / cam1 only: one camera's corners, PnP</a:t>
            </a:r>
            <a:endParaRPr lang="en-US" sz="1450" dirty="0"/>
          </a:p>
          <a:p>
            <a:pPr marL="203200" indent="-203200">
              <a:spcAft>
                <a:spcPts val="600"/>
              </a:spcAft>
              <a:buSzPct val="100000"/>
              <a:buChar char="•"/>
            </a:pPr>
            <a:r>
              <a:rPr lang="en-US" sz="1450" dirty="0">
                <a:solidFill>
                  <a:schemeClr val="tx1"/>
                </a:solidFill>
              </a:rPr>
              <a:t>Both cameras: one pose fitted to both cameras' corners at once (stereo)</a:t>
            </a:r>
            <a:endParaRPr lang="en-US" sz="1450" dirty="0"/>
          </a:p>
          <a:p>
            <a:pPr marL="203200" indent="-203200">
              <a:spcAft>
                <a:spcPts val="600"/>
              </a:spcAft>
              <a:buSzPct val="100000"/>
              <a:buChar char="•"/>
            </a:pPr>
            <a:r>
              <a:rPr lang="en-US" sz="1450" dirty="0">
                <a:solidFill>
                  <a:schemeClr val="tx1"/>
                </a:solidFill>
              </a:rPr>
              <a:t>Jig: every visible tag of the 8, with tag positions bundle-adjusted from the T0 take</a:t>
            </a:r>
            <a:endParaRPr lang="en-US" sz="1450" dirty="0"/>
          </a:p>
          <a:p>
            <a:pPr marL="203200" indent="-203200">
              <a:spcAft>
                <a:spcPts val="600"/>
              </a:spcAft>
              <a:buSzPct val="100000"/>
              <a:buChar char="•"/>
            </a:pPr>
            <a:r>
              <a:rPr lang="en-US" sz="1450" dirty="0">
                <a:solidFill>
                  <a:schemeClr val="tx1"/>
                </a:solidFill>
              </a:rPr>
              <a:t>Tag 12 only: the reference tag alone, the same frames</a:t>
            </a:r>
            <a:endParaRPr lang="en-US" sz="1450" dirty="0"/>
          </a:p>
        </p:txBody>
      </p:sp>
      <p:sp>
        <p:nvSpPr>
          <p:cNvPr id="7" name="Statistics panel"/>
          <p:cNvSpPr/>
          <p:nvPr/>
        </p:nvSpPr>
        <p:spPr>
          <a:xfrm>
            <a:off x="548640" y="3657600"/>
            <a:ext cx="5440680" cy="2606040"/>
          </a:xfrm>
          <a:prstGeom prst="roundRect">
            <a:avLst>
              <a:gd name="adj" fmla="val 4211"/>
            </a:avLst>
          </a:prstGeom>
          <a:solidFill>
            <a:schemeClr val="bg2"/>
          </a:solidFill>
          <a:ln/>
        </p:spPr>
      </p:sp>
      <p:sp>
        <p:nvSpPr>
          <p:cNvPr id="8" name="Text 5"/>
          <p:cNvSpPr txBox="1"/>
          <p:nvPr/>
        </p:nvSpPr>
        <p:spPr>
          <a:xfrm>
            <a:off x="749808" y="3794760"/>
            <a:ext cx="5038344" cy="365760"/>
          </a:xfrm>
          <a:prstGeom prst="rect">
            <a:avLst/>
          </a:prstGeom>
          <a:noFill/>
          <a:ln/>
        </p:spPr>
        <p:txBody>
          <a:bodyPr wrap="square" lIns="0" tIns="0" rIns="0" bIns="0" rtlCol="0" anchor="ctr"/>
          <a:lstStyle/>
          <a:p>
            <a:pPr indent="0" marL="0">
              <a:buNone/>
            </a:pPr>
            <a:r>
              <a:rPr lang="en-US" sz="1700" b="1" dirty="0">
                <a:solidFill>
                  <a:schemeClr val="tx2"/>
                </a:solidFill>
              </a:rPr>
              <a:t>Statistics</a:t>
            </a:r>
            <a:endParaRPr lang="en-US" sz="1700" dirty="0"/>
          </a:p>
        </p:txBody>
      </p:sp>
      <p:sp>
        <p:nvSpPr>
          <p:cNvPr id="9" name="Statistics"/>
          <p:cNvSpPr txBox="1"/>
          <p:nvPr/>
        </p:nvSpPr>
        <p:spPr>
          <a:xfrm>
            <a:off x="749808" y="4224528"/>
            <a:ext cx="5038344" cy="187452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chemeClr val="tx1"/>
                </a:solidFill>
              </a:rPr>
              <a:t>Box = middle 50 %, line = median (printed), whiskers = 5th–95th percentile</a:t>
            </a:r>
            <a:endParaRPr lang="en-US" sz="1450" dirty="0"/>
          </a:p>
          <a:p>
            <a:pPr marL="203200" indent="-203200">
              <a:spcAft>
                <a:spcPts val="600"/>
              </a:spcAft>
              <a:buSzPct val="100000"/>
              <a:buChar char="•"/>
            </a:pPr>
            <a:r>
              <a:rPr lang="en-US" sz="1450" dirty="0">
                <a:solidFill>
                  <a:schemeClr val="tx1"/>
                </a:solidFill>
              </a:rPr>
              <a:t>RMSE for the same data is in the speaker notes</a:t>
            </a:r>
            <a:endParaRPr lang="en-US" sz="1450" dirty="0"/>
          </a:p>
          <a:p>
            <a:pPr marL="203200" indent="-203200">
              <a:spcAft>
                <a:spcPts val="600"/>
              </a:spcAft>
              <a:buSzPct val="100000"/>
              <a:buChar char="•"/>
            </a:pPr>
            <a:r>
              <a:rPr lang="en-US" sz="1450" dirty="0">
                <a:solidFill>
                  <a:schemeClr val="tx1"/>
                </a:solidFill>
              </a:rPr>
              <a:t>Neighbouring frames are correlated, so no significance tests</a:t>
            </a:r>
            <a:endParaRPr lang="en-US" sz="1450" dirty="0"/>
          </a:p>
        </p:txBody>
      </p:sp>
      <p:sp>
        <p:nvSpPr>
          <p:cNvPr id="10" name="Scoring panel"/>
          <p:cNvSpPr/>
          <p:nvPr/>
        </p:nvSpPr>
        <p:spPr>
          <a:xfrm>
            <a:off x="6172200" y="1234440"/>
            <a:ext cx="5440680" cy="5029200"/>
          </a:xfrm>
          <a:prstGeom prst="roundRect">
            <a:avLst>
              <a:gd name="adj" fmla="val 2182"/>
            </a:avLst>
          </a:prstGeom>
          <a:solidFill>
            <a:schemeClr val="bg2"/>
          </a:solidFill>
          <a:ln/>
        </p:spPr>
      </p:sp>
      <p:sp>
        <p:nvSpPr>
          <p:cNvPr id="11" name="Text 8"/>
          <p:cNvSpPr txBox="1"/>
          <p:nvPr/>
        </p:nvSpPr>
        <p:spPr>
          <a:xfrm>
            <a:off x="6373368" y="1371600"/>
            <a:ext cx="5038344" cy="365760"/>
          </a:xfrm>
          <a:prstGeom prst="rect">
            <a:avLst/>
          </a:prstGeom>
          <a:noFill/>
          <a:ln/>
        </p:spPr>
        <p:txBody>
          <a:bodyPr wrap="square" lIns="0" tIns="0" rIns="0" bIns="0" rtlCol="0" anchor="ctr"/>
          <a:lstStyle/>
          <a:p>
            <a:pPr indent="0" marL="0">
              <a:buNone/>
            </a:pPr>
            <a:r>
              <a:rPr lang="en-US" sz="1700" b="1" dirty="0">
                <a:solidFill>
                  <a:schemeClr val="tx2"/>
                </a:solidFill>
              </a:rPr>
              <a:t>Scoring</a:t>
            </a:r>
            <a:endParaRPr lang="en-US" sz="1700" dirty="0"/>
          </a:p>
        </p:txBody>
      </p:sp>
      <p:sp>
        <p:nvSpPr>
          <p:cNvPr id="12" name="Scoring"/>
          <p:cNvSpPr txBox="1"/>
          <p:nvPr/>
        </p:nvSpPr>
        <p:spPr>
          <a:xfrm>
            <a:off x="6373368" y="1801368"/>
            <a:ext cx="5038344" cy="429768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chemeClr val="tx1"/>
                </a:solidFill>
              </a:rPr>
              <a:t>Hold: from the operator's hold start to hold end, 0.5 s trimmed at each end</a:t>
            </a:r>
            <a:endParaRPr lang="en-US" sz="1450" dirty="0"/>
          </a:p>
          <a:p>
            <a:pPr marL="203200" indent="-203200">
              <a:spcAft>
                <a:spcPts val="600"/>
              </a:spcAft>
              <a:buSzPct val="100000"/>
              <a:buChar char="•"/>
            </a:pPr>
            <a:r>
              <a:rPr lang="en-US" sz="1450" dirty="0">
                <a:solidFill>
                  <a:schemeClr val="tx1"/>
                </a:solidFill>
              </a:rPr>
              <a:t>Per hold: median camera grip point vs mean mocap grip point</a:t>
            </a:r>
            <a:endParaRPr lang="en-US" sz="1450" dirty="0"/>
          </a:p>
          <a:p>
            <a:pPr marL="203200" indent="-203200">
              <a:spcAft>
                <a:spcPts val="600"/>
              </a:spcAft>
              <a:buSzPct val="100000"/>
              <a:buChar char="•"/>
            </a:pPr>
            <a:r>
              <a:rPr lang="en-US" sz="1450" dirty="0">
                <a:solidFill>
                  <a:schemeClr val="tx1"/>
                </a:solidFill>
              </a:rPr>
              <a:t>Error per hold = camera − mocap (mm); its size = √(X² + Z²) in the table plane</a:t>
            </a:r>
            <a:endParaRPr lang="en-US" sz="1450" dirty="0"/>
          </a:p>
          <a:p>
            <a:pPr marL="203200" indent="-203200">
              <a:spcAft>
                <a:spcPts val="600"/>
              </a:spcAft>
              <a:buSzPct val="100000"/>
              <a:buChar char="•"/>
            </a:pPr>
            <a:r>
              <a:rPr lang="en-US" sz="1450" dirty="0">
                <a:solidFill>
                  <a:schemeClr val="tx1"/>
                </a:solidFill>
              </a:rPr>
              <a:t>Jitter per hold: SD of the grip point in 50-frame windows (0.5 s), median over the hold; 3D = √(SDx² + SDy² + SDz²) in mm</a:t>
            </a:r>
            <a:endParaRPr lang="en-US" sz="1450" dirty="0"/>
          </a:p>
          <a:p>
            <a:pPr marL="203200" indent="-203200">
              <a:spcAft>
                <a:spcPts val="600"/>
              </a:spcAft>
              <a:buSzPct val="100000"/>
              <a:buChar char="•"/>
            </a:pPr>
            <a:r>
              <a:rPr lang="en-US" sz="1450" dirty="0">
                <a:solidFill>
                  <a:schemeClr val="tx1"/>
                </a:solidFill>
              </a:rPr>
              <a:t>Mocap noise floor: the same jitter measure on the mocap grip point</a:t>
            </a:r>
            <a:endParaRPr lang="en-US" sz="1450" dirty="0"/>
          </a:p>
          <a:p>
            <a:pPr marL="203200" indent="-203200">
              <a:spcAft>
                <a:spcPts val="600"/>
              </a:spcAft>
              <a:buSzPct val="100000"/>
              <a:buChar char="•"/>
            </a:pPr>
            <a:r>
              <a:rPr lang="en-US" sz="1450" dirty="0">
                <a:solidFill>
                  <a:schemeClr val="tx1"/>
                </a:solidFill>
              </a:rPr>
              <a:t>Under motion (T2 / T3): error per camera frame, same √(X² + Z²)</a:t>
            </a:r>
            <a:endParaRPr lang="en-US" sz="1450" dirty="0"/>
          </a:p>
          <a:p>
            <a:pPr marL="203200" indent="-203200">
              <a:spcAft>
                <a:spcPts val="600"/>
              </a:spcAft>
              <a:buSzPct val="100000"/>
              <a:buChar char="•"/>
            </a:pPr>
            <a:r>
              <a:rPr lang="en-US" sz="1450" dirty="0">
                <a:solidFill>
                  <a:schemeClr val="tx1"/>
                </a:solidFill>
              </a:rPr>
              <a:t>Coverage: frames with a pose ÷ recorded frames (%)</a:t>
            </a:r>
            <a:endParaRPr lang="en-US" sz="14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Edge or AprilTag refinement halves the error</a:t>
            </a:r>
            <a:endParaRPr lang="en-US" sz="3000" dirty="0"/>
          </a:p>
        </p:txBody>
      </p:sp>
      <p:pic>
        <p:nvPicPr>
          <p:cNvPr id="4" name="acc_refine.png" descr="Box plots of grip point error per hold for four corner refinements, for cam0, cam1 and both cameras">    </p:cNvPr>
          <p:cNvPicPr>
            <a:picLocks noChangeAspect="1"/>
          </p:cNvPicPr>
          <p:nvPr/>
        </p:nvPicPr>
        <p:blipFill>
          <a:blip r:embed="rId1"/>
          <a:stretch>
            <a:fillRect/>
          </a:stretch>
        </p:blipFill>
        <p:spPr>
          <a:xfrm>
            <a:off x="980929" y="1143000"/>
            <a:ext cx="10199661" cy="3611880"/>
          </a:xfrm>
          <a:prstGeom prst="rect">
            <a:avLst/>
          </a:prstGeom>
        </p:spPr>
      </p:pic>
      <p:sp>
        <p:nvSpPr>
          <p:cNvPr id="5" name="caption"/>
          <p:cNvSpPr txBox="1"/>
          <p:nvPr/>
        </p:nvSpPr>
        <p:spPr>
          <a:xfrm>
            <a:off x="548640" y="4791456"/>
            <a:ext cx="11064240" cy="274320"/>
          </a:xfrm>
          <a:prstGeom prst="rect">
            <a:avLst/>
          </a:prstGeom>
          <a:noFill/>
          <a:ln/>
        </p:spPr>
        <p:txBody>
          <a:bodyPr wrap="square" lIns="0" tIns="0" rIns="0" bIns="0" rtlCol="0" anchor="ctr"/>
          <a:lstStyle/>
          <a:p>
            <a:pPr indent="0" marL="0">
              <a:buNone/>
            </a:pPr>
            <a:r>
              <a:rPr lang="en-US" sz="1150" i="1" dirty="0">
                <a:solidFill>
                  <a:schemeClr val="accent5"/>
                </a:solidFill>
              </a:rPr>
              <a:t>Box = middle 50 % of holds · line = median (printed) · whiskers = 5th–95th percentile · 8-tag jig · registration fitted on the other run</a:t>
            </a:r>
            <a:endParaRPr lang="en-US" sz="1150" dirty="0"/>
          </a:p>
        </p:txBody>
      </p:sp>
      <p:sp>
        <p:nvSpPr>
          <p:cNvPr id="6" name="points panel"/>
          <p:cNvSpPr/>
          <p:nvPr/>
        </p:nvSpPr>
        <p:spPr>
          <a:xfrm>
            <a:off x="548640" y="5120640"/>
            <a:ext cx="11064240" cy="1170432"/>
          </a:xfrm>
          <a:prstGeom prst="roundRect">
            <a:avLst>
              <a:gd name="adj" fmla="val 9375"/>
            </a:avLst>
          </a:prstGeom>
          <a:solidFill>
            <a:schemeClr val="bg2"/>
          </a:solidFill>
          <a:ln/>
        </p:spPr>
      </p:sp>
      <p:sp>
        <p:nvSpPr>
          <p:cNvPr id="7" name="points left"/>
          <p:cNvSpPr txBox="1"/>
          <p:nvPr/>
        </p:nvSpPr>
        <p:spPr>
          <a:xfrm>
            <a:off x="749808" y="5276088"/>
            <a:ext cx="5230368" cy="896112"/>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Diwakar edge and AprilTag refine: median 0.8–1.0 mm per hold</a:t>
            </a:r>
            <a:endParaRPr lang="en-US" sz="1500" dirty="0"/>
          </a:p>
          <a:p>
            <a:pPr marL="203200" indent="-203200">
              <a:spcAft>
                <a:spcPts val="600"/>
              </a:spcAft>
              <a:buSzPct val="100000"/>
              <a:buChar char="•"/>
            </a:pPr>
            <a:r>
              <a:rPr lang="en-US" sz="1500" dirty="0">
                <a:solidFill>
                  <a:schemeClr val="tx1"/>
                </a:solidFill>
              </a:rPr>
              <a:t>No refine and OpenCV contour: 1.6–2.0 mm, about twice as large</a:t>
            </a:r>
            <a:endParaRPr lang="en-US" sz="1500" dirty="0"/>
          </a:p>
        </p:txBody>
      </p:sp>
      <p:sp>
        <p:nvSpPr>
          <p:cNvPr id="8" name="points right"/>
          <p:cNvSpPr txBox="1"/>
          <p:nvPr/>
        </p:nvSpPr>
        <p:spPr>
          <a:xfrm>
            <a:off x="6181344" y="5276088"/>
            <a:ext cx="5230368" cy="896112"/>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Same ranking for cam0, cam1 and both cameras</a:t>
            </a:r>
            <a:endParaRPr lang="en-US" sz="1500" dirty="0"/>
          </a:p>
          <a:p>
            <a:pPr marL="203200" indent="-203200">
              <a:spcAft>
                <a:spcPts val="600"/>
              </a:spcAft>
              <a:buSzPct val="100000"/>
              <a:buChar char="•"/>
            </a:pPr>
            <a:r>
              <a:rPr lang="en-US" sz="1500" dirty="0">
                <a:solidFill>
                  <a:schemeClr val="tx1"/>
                </a:solidFill>
              </a:rPr>
              <a:t>With the jig, two cameras do not beat one: 0.97 vs 0.94 / 0.81 mm</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The error left is mostly depth</a:t>
            </a:r>
            <a:endParaRPr lang="en-US" sz="3000" dirty="0"/>
          </a:p>
        </p:txBody>
      </p:sp>
      <p:pic>
        <p:nvPicPr>
          <p:cNvPr id="4" name="acc_axes.png" descr="Box plots of absolute X and Z error per hold for four refinements">    </p:cNvPr>
          <p:cNvPicPr>
            <a:picLocks noChangeAspect="1"/>
          </p:cNvPicPr>
          <p:nvPr/>
        </p:nvPicPr>
        <p:blipFill>
          <a:blip r:embed="rId1"/>
          <a:stretch>
            <a:fillRect/>
          </a:stretch>
        </p:blipFill>
        <p:spPr>
          <a:xfrm>
            <a:off x="548640" y="1188720"/>
            <a:ext cx="6949440" cy="3390245"/>
          </a:xfrm>
          <a:prstGeom prst="rect">
            <a:avLst/>
          </a:prstGeom>
        </p:spPr>
      </p:pic>
      <p:sp>
        <p:nvSpPr>
          <p:cNvPr id="5" name="caption"/>
          <p:cNvSpPr txBox="1"/>
          <p:nvPr/>
        </p:nvSpPr>
        <p:spPr>
          <a:xfrm>
            <a:off x="548640" y="4615541"/>
            <a:ext cx="6949440" cy="274320"/>
          </a:xfrm>
          <a:prstGeom prst="rect">
            <a:avLst/>
          </a:prstGeom>
          <a:noFill/>
          <a:ln/>
        </p:spPr>
        <p:txBody>
          <a:bodyPr wrap="square" lIns="0" tIns="0" rIns="0" bIns="0" rtlCol="0" anchor="ctr"/>
          <a:lstStyle/>
          <a:p>
            <a:pPr indent="0" marL="0">
              <a:buNone/>
            </a:pPr>
            <a:r>
              <a:rPr lang="en-US" sz="1150" i="1" dirty="0">
                <a:solidFill>
                  <a:schemeClr val="accent5"/>
                </a:solidFill>
              </a:rPr>
              <a:t>Box = middle 50 % of holds · line = median (printed) · whiskers = 5th–95th percentile · both cameras, jig</a:t>
            </a:r>
            <a:endParaRPr lang="en-US" sz="1150" dirty="0"/>
          </a:p>
        </p:txBody>
      </p:sp>
      <p:sp>
        <p:nvSpPr>
          <p:cNvPr id="6" name="points panel"/>
          <p:cNvSpPr/>
          <p:nvPr/>
        </p:nvSpPr>
        <p:spPr>
          <a:xfrm>
            <a:off x="7772400" y="1188720"/>
            <a:ext cx="3840480" cy="5074920"/>
          </a:xfrm>
          <a:prstGeom prst="roundRect">
            <a:avLst>
              <a:gd name="adj" fmla="val 2857"/>
            </a:avLst>
          </a:prstGeom>
          <a:solidFill>
            <a:schemeClr val="bg2"/>
          </a:solidFill>
          <a:ln/>
        </p:spPr>
      </p:sp>
      <p:sp>
        <p:nvSpPr>
          <p:cNvPr id="7" name="points"/>
          <p:cNvSpPr txBox="1"/>
          <p:nvPr/>
        </p:nvSpPr>
        <p:spPr>
          <a:xfrm>
            <a:off x="7973568" y="1371600"/>
            <a:ext cx="3438144" cy="470916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chemeClr val="tx1"/>
                </a:solidFill>
              </a:rPr>
              <a:t>Both cameras + jig, |error| per hold</a:t>
            </a:r>
            <a:endParaRPr lang="en-US" sz="1600" dirty="0"/>
          </a:p>
          <a:p>
            <a:pPr marL="203200" indent="-203200">
              <a:spcAft>
                <a:spcPts val="600"/>
              </a:spcAft>
              <a:buSzPct val="100000"/>
              <a:buChar char="•"/>
            </a:pPr>
            <a:r>
              <a:rPr lang="en-US" sz="1600" dirty="0">
                <a:solidFill>
                  <a:schemeClr val="tx1"/>
                </a:solidFill>
              </a:rPr>
              <a:t>Z (depth) is larger than X (across) for every refinement</a:t>
            </a:r>
            <a:endParaRPr lang="en-US" sz="1600" dirty="0"/>
          </a:p>
          <a:p>
            <a:pPr lvl="1" marL="355600" indent="-177800">
              <a:spcAft>
                <a:spcPts val="600"/>
              </a:spcAft>
              <a:buSzPct val="100000"/>
              <a:buChar char="•"/>
            </a:pPr>
            <a:r>
              <a:rPr lang="en-US" sz="1400" dirty="0">
                <a:solidFill>
                  <a:schemeClr val="accent5"/>
                </a:solidFill>
              </a:rPr>
              <a:t>No refine: Z 1.27 vs X 0.73 mm</a:t>
            </a:r>
            <a:endParaRPr lang="en-US" sz="1600" dirty="0"/>
          </a:p>
          <a:p>
            <a:pPr lvl="1" marL="355600" indent="-177800">
              <a:spcAft>
                <a:spcPts val="600"/>
              </a:spcAft>
              <a:buSzPct val="100000"/>
              <a:buChar char="•"/>
            </a:pPr>
            <a:r>
              <a:rPr lang="en-US" sz="1400" dirty="0">
                <a:solidFill>
                  <a:schemeClr val="accent5"/>
                </a:solidFill>
              </a:rPr>
              <a:t>Diwakar edge: Z 0.61 vs X 0.52 mm</a:t>
            </a:r>
            <a:endParaRPr lang="en-US" sz="1600" dirty="0"/>
          </a:p>
          <a:p>
            <a:pPr marL="203200" indent="-203200">
              <a:spcAft>
                <a:spcPts val="600"/>
              </a:spcAft>
              <a:buSzPct val="100000"/>
              <a:buChar char="•"/>
            </a:pPr>
            <a:r>
              <a:rPr lang="en-US" sz="1600" dirty="0">
                <a:solidFill>
                  <a:schemeClr val="tx1"/>
                </a:solidFill>
              </a:rPr>
              <a:t>Good refinement removes most of the depth error: 1.27 → 0.61 mm</a:t>
            </a:r>
            <a:endParaRPr lang="en-US" sz="1600" dirty="0"/>
          </a:p>
          <a:p>
            <a:pPr marL="203200" indent="-203200">
              <a:spcAft>
                <a:spcPts val="600"/>
              </a:spcAft>
              <a:buSzPct val="100000"/>
              <a:buChar char="•"/>
            </a:pPr>
            <a:r>
              <a:rPr lang="en-US" sz="1600" dirty="0">
                <a:solidFill>
                  <a:schemeClr val="tx1"/>
                </a:solidFill>
              </a:rPr>
              <a:t>Depth is a camera's weak direction: it rests on how big the tags look and on the short stereo baseline</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Depth error is a scale error: distances read 0.5 % long</a:t>
            </a:r>
            <a:endParaRPr lang="en-US" sz="3000" dirty="0"/>
          </a:p>
        </p:txBody>
      </p:sp>
      <p:pic>
        <p:nvPicPr>
          <p:cNvPr id="4" name="depth_scale.png" descr="Scatter of error along the line of sight against distance from the camera, with fitted lines per refinement">    </p:cNvPr>
          <p:cNvPicPr>
            <a:picLocks noChangeAspect="1"/>
          </p:cNvPicPr>
          <p:nvPr/>
        </p:nvPicPr>
        <p:blipFill>
          <a:blip r:embed="rId1"/>
          <a:stretch>
            <a:fillRect/>
          </a:stretch>
        </p:blipFill>
        <p:spPr>
          <a:xfrm>
            <a:off x="845329" y="1188720"/>
            <a:ext cx="4344381" cy="3291840"/>
          </a:xfrm>
          <a:prstGeom prst="rect">
            <a:avLst/>
          </a:prstGeom>
        </p:spPr>
      </p:pic>
      <p:sp>
        <p:nvSpPr>
          <p:cNvPr id="5" name="caption"/>
          <p:cNvSpPr txBox="1"/>
          <p:nvPr/>
        </p:nvSpPr>
        <p:spPr>
          <a:xfrm>
            <a:off x="548640" y="4517136"/>
            <a:ext cx="4937760" cy="274320"/>
          </a:xfrm>
          <a:prstGeom prst="rect">
            <a:avLst/>
          </a:prstGeom>
          <a:noFill/>
          <a:ln/>
        </p:spPr>
        <p:txBody>
          <a:bodyPr wrap="square" lIns="0" tIns="0" rIns="0" bIns="0" rtlCol="0" anchor="ctr"/>
          <a:lstStyle/>
          <a:p>
            <a:pPr indent="0" marL="0">
              <a:buNone/>
            </a:pPr>
            <a:r>
              <a:rPr lang="en-US" sz="1150" i="1" dirty="0">
                <a:solidFill>
                  <a:schemeClr val="accent5"/>
                </a:solidFill>
              </a:rPr>
              <a:t>Each dot one hold · both cameras, jig · slope in % = mm per 100 mm</a:t>
            </a:r>
            <a:endParaRPr lang="en-US" sz="1150" dirty="0"/>
          </a:p>
        </p:txBody>
      </p:sp>
      <p:pic>
        <p:nvPicPr>
          <p:cNvPr id="6" name="err_map.png" descr="Map of the table grid with an arrow per hold showing its error, coloured by error size">    </p:cNvPr>
          <p:cNvPicPr>
            <a:picLocks noChangeAspect="1"/>
          </p:cNvPicPr>
          <p:nvPr/>
        </p:nvPicPr>
        <p:blipFill>
          <a:blip r:embed="rId2"/>
          <a:stretch>
            <a:fillRect/>
          </a:stretch>
        </p:blipFill>
        <p:spPr>
          <a:xfrm>
            <a:off x="5990978" y="1188720"/>
            <a:ext cx="5300204" cy="3291840"/>
          </a:xfrm>
          <a:prstGeom prst="rect">
            <a:avLst/>
          </a:prstGeom>
        </p:spPr>
      </p:pic>
      <p:sp>
        <p:nvSpPr>
          <p:cNvPr id="7" name="caption"/>
          <p:cNvSpPr txBox="1"/>
          <p:nvPr/>
        </p:nvSpPr>
        <p:spPr>
          <a:xfrm>
            <a:off x="5669280" y="4517136"/>
            <a:ext cx="5943600" cy="274320"/>
          </a:xfrm>
          <a:prstGeom prst="rect">
            <a:avLst/>
          </a:prstGeom>
          <a:noFill/>
          <a:ln/>
        </p:spPr>
        <p:txBody>
          <a:bodyPr wrap="square" lIns="0" tIns="0" rIns="0" bIns="0" rtlCol="0" anchor="ctr"/>
          <a:lstStyle/>
          <a:p>
            <a:pPr indent="0" marL="0">
              <a:buNone/>
            </a:pPr>
            <a:r>
              <a:rPr lang="en-US" sz="1150" i="1" dirty="0">
                <a:solidFill>
                  <a:schemeClr val="accent5"/>
                </a:solidFill>
              </a:rPr>
              <a:t>Diwakar edge, both cameras, jig · each dot one hold · arrows ×25</a:t>
            </a:r>
            <a:endParaRPr lang="en-US" sz="1150" dirty="0"/>
          </a:p>
        </p:txBody>
      </p:sp>
      <p:sp>
        <p:nvSpPr>
          <p:cNvPr id="8" name="points panel"/>
          <p:cNvSpPr/>
          <p:nvPr/>
        </p:nvSpPr>
        <p:spPr>
          <a:xfrm>
            <a:off x="548640" y="4937760"/>
            <a:ext cx="11064240" cy="1353312"/>
          </a:xfrm>
          <a:prstGeom prst="roundRect">
            <a:avLst>
              <a:gd name="adj" fmla="val 8108"/>
            </a:avLst>
          </a:prstGeom>
          <a:solidFill>
            <a:schemeClr val="bg2"/>
          </a:solidFill>
          <a:ln/>
        </p:spPr>
      </p:sp>
      <p:sp>
        <p:nvSpPr>
          <p:cNvPr id="9" name="points left"/>
          <p:cNvSpPr txBox="1"/>
          <p:nvPr/>
        </p:nvSpPr>
        <p:spPr>
          <a:xfrm>
            <a:off x="749808" y="5093208"/>
            <a:ext cx="5230368" cy="1078992"/>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chemeClr val="tx1"/>
                </a:solidFill>
              </a:rPr>
              <a:t>Distances read long: Diwakar edge 0.47 %, AprilTag 0.56 %, no refine 1.45 %</a:t>
            </a:r>
            <a:endParaRPr lang="en-US" sz="1450" dirty="0"/>
          </a:p>
          <a:p>
            <a:pPr marL="203200" indent="-203200">
              <a:spcAft>
                <a:spcPts val="600"/>
              </a:spcAft>
              <a:buSzPct val="100000"/>
              <a:buChar char="•"/>
            </a:pPr>
            <a:r>
              <a:rPr lang="en-US" sz="1450" dirty="0">
                <a:solidFill>
                  <a:schemeClr val="tx1"/>
                </a:solidFill>
              </a:rPr>
              <a:t>Largest hold errors sit in the far row, ~650 mm from the cameras</a:t>
            </a:r>
            <a:endParaRPr lang="en-US" sz="1450" dirty="0"/>
          </a:p>
        </p:txBody>
      </p:sp>
      <p:sp>
        <p:nvSpPr>
          <p:cNvPr id="10" name="points right"/>
          <p:cNvSpPr txBox="1"/>
          <p:nvPr/>
        </p:nvSpPr>
        <p:spPr>
          <a:xfrm>
            <a:off x="6181344" y="5093208"/>
            <a:ext cx="5230368" cy="1078992"/>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chemeClr val="tx1"/>
                </a:solidFill>
              </a:rPr>
              <a:t>No refine shrinks tags 1.8 % and reads farther: corners set the scale</a:t>
            </a:r>
            <a:endParaRPr lang="en-US" sz="1450" dirty="0"/>
          </a:p>
          <a:p>
            <a:pPr marL="203200" indent="-203200">
              <a:spcAft>
                <a:spcPts val="600"/>
              </a:spcAft>
              <a:buSzPct val="100000"/>
              <a:buChar char="•"/>
            </a:pPr>
            <a:r>
              <a:rPr lang="en-US" sz="1450" dirty="0">
                <a:solidFill>
                  <a:schemeClr val="tx1"/>
                </a:solidFill>
              </a:rPr>
              <a:t>Edge and AprilTag agree on tag size yet read 0.5 % long: check the printed tag size (0.5 % of 50 mm = 0.25 mm) and the focal length</a:t>
            </a:r>
            <a:endParaRPr lang="en-US" sz="14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The 8-tag jig matters more than the second camera</a:t>
            </a:r>
            <a:endParaRPr lang="en-US" sz="3000" dirty="0"/>
          </a:p>
        </p:txBody>
      </p:sp>
      <p:pic>
        <p:nvPicPr>
          <p:cNvPr id="4" name="rb_solver.png" descr="Box plots of accuracy and static jitter for jig versus tag 12 alone, per solver">    </p:cNvPr>
          <p:cNvPicPr>
            <a:picLocks noChangeAspect="1"/>
          </p:cNvPicPr>
          <p:nvPr/>
        </p:nvPicPr>
        <p:blipFill>
          <a:blip r:embed="rId1"/>
          <a:stretch>
            <a:fillRect/>
          </a:stretch>
        </p:blipFill>
        <p:spPr>
          <a:xfrm>
            <a:off x="1123659" y="1143000"/>
            <a:ext cx="9914202" cy="3611880"/>
          </a:xfrm>
          <a:prstGeom prst="rect">
            <a:avLst/>
          </a:prstGeom>
        </p:spPr>
      </p:pic>
      <p:sp>
        <p:nvSpPr>
          <p:cNvPr id="5" name="caption"/>
          <p:cNvSpPr txBox="1"/>
          <p:nvPr/>
        </p:nvSpPr>
        <p:spPr>
          <a:xfrm>
            <a:off x="548640" y="4791456"/>
            <a:ext cx="11064240" cy="274320"/>
          </a:xfrm>
          <a:prstGeom prst="rect">
            <a:avLst/>
          </a:prstGeom>
          <a:noFill/>
          <a:ln/>
        </p:spPr>
        <p:txBody>
          <a:bodyPr wrap="square" lIns="0" tIns="0" rIns="0" bIns="0" rtlCol="0" anchor="ctr"/>
          <a:lstStyle/>
          <a:p>
            <a:pPr indent="0" marL="0">
              <a:buNone/>
            </a:pPr>
            <a:r>
              <a:rPr lang="en-US" sz="1150" i="1" dirty="0">
                <a:solidFill>
                  <a:schemeClr val="accent5"/>
                </a:solidFill>
              </a:rPr>
              <a:t>Box = middle 50 % of holds · line = median (printed) · whiskers = 5th–95th percentile · Diwakar edge · jitter on a log axis</a:t>
            </a:r>
            <a:endParaRPr lang="en-US" sz="1150" dirty="0"/>
          </a:p>
        </p:txBody>
      </p:sp>
      <p:sp>
        <p:nvSpPr>
          <p:cNvPr id="6" name="points panel"/>
          <p:cNvSpPr/>
          <p:nvPr/>
        </p:nvSpPr>
        <p:spPr>
          <a:xfrm>
            <a:off x="548640" y="5120640"/>
            <a:ext cx="11064240" cy="1170432"/>
          </a:xfrm>
          <a:prstGeom prst="roundRect">
            <a:avLst>
              <a:gd name="adj" fmla="val 9375"/>
            </a:avLst>
          </a:prstGeom>
          <a:solidFill>
            <a:schemeClr val="bg2"/>
          </a:solidFill>
          <a:ln/>
        </p:spPr>
      </p:sp>
      <p:sp>
        <p:nvSpPr>
          <p:cNvPr id="7" name="points left"/>
          <p:cNvSpPr txBox="1"/>
          <p:nvPr/>
        </p:nvSpPr>
        <p:spPr>
          <a:xfrm>
            <a:off x="749808" y="5276088"/>
            <a:ext cx="5230368" cy="896112"/>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Tag 12 alone: error 1.6–2.0 mm vs 0.8–1.0 mm with the jig</a:t>
            </a:r>
            <a:endParaRPr lang="en-US" sz="1500" dirty="0"/>
          </a:p>
          <a:p>
            <a:pPr marL="203200" indent="-203200">
              <a:spcAft>
                <a:spcPts val="600"/>
              </a:spcAft>
              <a:buSzPct val="100000"/>
              <a:buChar char="•"/>
            </a:pPr>
            <a:r>
              <a:rPr lang="en-US" sz="1500" dirty="0">
                <a:solidFill>
                  <a:schemeClr val="tx1"/>
                </a:solidFill>
              </a:rPr>
              <a:t>Jitter with tag 12 alone: 0.10–0.21 mm vs 0.041–0.055 mm with the jig</a:t>
            </a:r>
            <a:endParaRPr lang="en-US" sz="1500" dirty="0"/>
          </a:p>
        </p:txBody>
      </p:sp>
      <p:sp>
        <p:nvSpPr>
          <p:cNvPr id="8" name="points right"/>
          <p:cNvSpPr txBox="1"/>
          <p:nvPr/>
        </p:nvSpPr>
        <p:spPr>
          <a:xfrm>
            <a:off x="6181344" y="5276088"/>
            <a:ext cx="5230368" cy="896112"/>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With the jig, one camera is as good as two</a:t>
            </a:r>
            <a:endParaRPr lang="en-US" sz="1500" dirty="0"/>
          </a:p>
          <a:p>
            <a:pPr marL="203200" indent="-203200">
              <a:spcAft>
                <a:spcPts val="600"/>
              </a:spcAft>
              <a:buSzPct val="100000"/>
              <a:buChar char="•"/>
            </a:pPr>
            <a:r>
              <a:rPr lang="en-US" sz="1500" dirty="0">
                <a:solidFill>
                  <a:schemeClr val="tx1"/>
                </a:solidFill>
              </a:rPr>
              <a:t>With tag 12 alone, two cameras halve jitter (0.10 vs 0.19 mm) and trim error 12 %</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Two cameras rescue weak setups, not strong ones</a:t>
            </a:r>
            <a:endParaRPr lang="en-US" sz="3000" dirty="0"/>
          </a:p>
        </p:txBody>
      </p:sp>
      <p:pic>
        <p:nvPicPr>
          <p:cNvPr id="4" name="tag12_refine.png" descr="Box plots of error per hold with tag 12 only, per refinement, for cam0, cam1 and both cameras">    </p:cNvPr>
          <p:cNvPicPr>
            <a:picLocks noChangeAspect="1"/>
          </p:cNvPicPr>
          <p:nvPr/>
        </p:nvPicPr>
        <p:blipFill>
          <a:blip r:embed="rId1"/>
          <a:stretch>
            <a:fillRect/>
          </a:stretch>
        </p:blipFill>
        <p:spPr>
          <a:xfrm>
            <a:off x="548640" y="1188720"/>
            <a:ext cx="7223760" cy="4018487"/>
          </a:xfrm>
          <a:prstGeom prst="rect">
            <a:avLst/>
          </a:prstGeom>
        </p:spPr>
      </p:pic>
      <p:sp>
        <p:nvSpPr>
          <p:cNvPr id="5" name="caption"/>
          <p:cNvSpPr txBox="1"/>
          <p:nvPr/>
        </p:nvSpPr>
        <p:spPr>
          <a:xfrm>
            <a:off x="548640" y="5243783"/>
            <a:ext cx="7223760" cy="274320"/>
          </a:xfrm>
          <a:prstGeom prst="rect">
            <a:avLst/>
          </a:prstGeom>
          <a:noFill/>
          <a:ln/>
        </p:spPr>
        <p:txBody>
          <a:bodyPr wrap="square" lIns="0" tIns="0" rIns="0" bIns="0" rtlCol="0" anchor="ctr"/>
          <a:lstStyle/>
          <a:p>
            <a:pPr indent="0" marL="0">
              <a:buNone/>
            </a:pPr>
            <a:r>
              <a:rPr lang="en-US" sz="1150" i="1" dirty="0">
                <a:solidFill>
                  <a:schemeClr val="accent5"/>
                </a:solidFill>
              </a:rPr>
              <a:t>Box = middle 50 % of holds · line = median (printed) · whiskers = 5th–95th percentile · tag 12 only</a:t>
            </a:r>
            <a:endParaRPr lang="en-US" sz="1150" dirty="0"/>
          </a:p>
        </p:txBody>
      </p:sp>
      <p:sp>
        <p:nvSpPr>
          <p:cNvPr id="6" name="points panel"/>
          <p:cNvSpPr/>
          <p:nvPr/>
        </p:nvSpPr>
        <p:spPr>
          <a:xfrm>
            <a:off x="8046720" y="1188720"/>
            <a:ext cx="3566160" cy="5074920"/>
          </a:xfrm>
          <a:prstGeom prst="roundRect">
            <a:avLst>
              <a:gd name="adj" fmla="val 3077"/>
            </a:avLst>
          </a:prstGeom>
          <a:solidFill>
            <a:schemeClr val="bg2"/>
          </a:solidFill>
          <a:ln/>
        </p:spPr>
      </p:sp>
      <p:sp>
        <p:nvSpPr>
          <p:cNvPr id="7" name="points"/>
          <p:cNvSpPr txBox="1"/>
          <p:nvPr/>
        </p:nvSpPr>
        <p:spPr>
          <a:xfrm>
            <a:off x="8247888" y="1371600"/>
            <a:ext cx="3163824" cy="470916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chemeClr val="tx1"/>
                </a:solidFill>
              </a:rPr>
              <a:t>Tag 12 alone, one camera</a:t>
            </a:r>
            <a:endParaRPr lang="en-US" sz="1600" dirty="0"/>
          </a:p>
          <a:p>
            <a:pPr lvl="1" marL="355600" indent="-177800">
              <a:spcAft>
                <a:spcPts val="600"/>
              </a:spcAft>
              <a:buSzPct val="100000"/>
              <a:buChar char="•"/>
            </a:pPr>
            <a:r>
              <a:rPr lang="en-US" sz="1400" dirty="0">
                <a:solidFill>
                  <a:schemeClr val="accent5"/>
                </a:solidFill>
              </a:rPr>
              <a:t>no refine 3.7 mm, contour 2.6, edge 1.8, AprilTag 2.0 (cam0)</a:t>
            </a:r>
            <a:endParaRPr lang="en-US" sz="1600" dirty="0"/>
          </a:p>
          <a:p>
            <a:pPr marL="203200" indent="-203200">
              <a:spcAft>
                <a:spcPts val="600"/>
              </a:spcAft>
              <a:buSzPct val="100000"/>
              <a:buChar char="•"/>
            </a:pPr>
            <a:r>
              <a:rPr lang="en-US" sz="1600" dirty="0">
                <a:solidFill>
                  <a:schemeClr val="tx1"/>
                </a:solidFill>
              </a:rPr>
              <a:t>Both cameras pull every refinement to 1.6–2.1 mm</a:t>
            </a:r>
            <a:endParaRPr lang="en-US" sz="1600" dirty="0"/>
          </a:p>
          <a:p>
            <a:pPr marL="203200" indent="-203200">
              <a:spcAft>
                <a:spcPts val="600"/>
              </a:spcAft>
              <a:buSzPct val="100000"/>
              <a:buChar char="•"/>
            </a:pPr>
            <a:r>
              <a:rPr lang="en-US" sz="1600" dirty="0">
                <a:solidFill>
                  <a:schemeClr val="tx1"/>
                </a:solidFill>
              </a:rPr>
              <a:t>Biggest gain where corners are worst: no refine 3.7 → 2.1 mm</a:t>
            </a:r>
            <a:endParaRPr lang="en-US" sz="1600" dirty="0"/>
          </a:p>
          <a:p>
            <a:pPr marL="203200" indent="-203200">
              <a:spcAft>
                <a:spcPts val="600"/>
              </a:spcAft>
              <a:buSzPct val="100000"/>
              <a:buChar char="•"/>
            </a:pPr>
            <a:r>
              <a:rPr lang="en-US" sz="1600" dirty="0">
                <a:solidFill>
                  <a:schemeClr val="tx1"/>
                </a:solidFill>
              </a:rPr>
              <a:t>The jig with one camera (0.8–1.0 mm) beats any refinement with two cameras and one tag</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Coverage: with the jig, a pose in every frame</a:t>
            </a:r>
            <a:endParaRPr lang="en-US" sz="3000" dirty="0"/>
          </a:p>
        </p:txBody>
      </p:sp>
      <p:pic>
        <p:nvPicPr>
          <p:cNvPr id="4" name="coverage.png" descr="Line plot of percent of frames with a pose per solver, jig versus tag 12 only, for each take type">    </p:cNvPr>
          <p:cNvPicPr>
            <a:picLocks noChangeAspect="1"/>
          </p:cNvPicPr>
          <p:nvPr/>
        </p:nvPicPr>
        <p:blipFill>
          <a:blip r:embed="rId1"/>
          <a:stretch>
            <a:fillRect/>
          </a:stretch>
        </p:blipFill>
        <p:spPr>
          <a:xfrm>
            <a:off x="970741" y="1143000"/>
            <a:ext cx="10220039" cy="3886200"/>
          </a:xfrm>
          <a:prstGeom prst="rect">
            <a:avLst/>
          </a:prstGeom>
        </p:spPr>
      </p:pic>
      <p:sp>
        <p:nvSpPr>
          <p:cNvPr id="5" name="caption"/>
          <p:cNvSpPr txBox="1"/>
          <p:nvPr/>
        </p:nvSpPr>
        <p:spPr>
          <a:xfrm>
            <a:off x="548640" y="5065776"/>
            <a:ext cx="11064240" cy="274320"/>
          </a:xfrm>
          <a:prstGeom prst="rect">
            <a:avLst/>
          </a:prstGeom>
          <a:noFill/>
          <a:ln/>
        </p:spPr>
        <p:txBody>
          <a:bodyPr wrap="square" lIns="0" tIns="0" rIns="0" bIns="0" rtlCol="0" anchor="ctr"/>
          <a:lstStyle/>
          <a:p>
            <a:pPr indent="0" marL="0">
              <a:buNone/>
            </a:pPr>
            <a:r>
              <a:rPr lang="en-US" sz="1150" i="1" dirty="0">
                <a:solidFill>
                  <a:schemeClr val="accent5"/>
                </a:solidFill>
              </a:rPr>
              <a:t>Filled = 8-tag jig · open, dashed = tag 12 only</a:t>
            </a:r>
            <a:endParaRPr lang="en-US" sz="1150" dirty="0"/>
          </a:p>
        </p:txBody>
      </p:sp>
      <p:sp>
        <p:nvSpPr>
          <p:cNvPr id="6" name="points panel"/>
          <p:cNvSpPr/>
          <p:nvPr/>
        </p:nvSpPr>
        <p:spPr>
          <a:xfrm>
            <a:off x="548640" y="5394960"/>
            <a:ext cx="11064240" cy="896112"/>
          </a:xfrm>
          <a:prstGeom prst="roundRect">
            <a:avLst>
              <a:gd name="adj" fmla="val 12245"/>
            </a:avLst>
          </a:prstGeom>
          <a:solidFill>
            <a:schemeClr val="bg2"/>
          </a:solidFill>
          <a:ln/>
        </p:spPr>
      </p:sp>
      <p:sp>
        <p:nvSpPr>
          <p:cNvPr id="7" name="points left"/>
          <p:cNvSpPr txBox="1"/>
          <p:nvPr/>
        </p:nvSpPr>
        <p:spPr>
          <a:xfrm>
            <a:off x="749808" y="5550408"/>
            <a:ext cx="5230368" cy="621792"/>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Jig: a pose in ≥ 99.9 % of frames, every solver, every take</a:t>
            </a:r>
            <a:endParaRPr lang="en-US" sz="1500" dirty="0"/>
          </a:p>
          <a:p>
            <a:pPr marL="203200" indent="-203200">
              <a:spcAft>
                <a:spcPts val="600"/>
              </a:spcAft>
              <a:buSzPct val="100000"/>
              <a:buChar char="•"/>
            </a:pPr>
            <a:r>
              <a:rPr lang="en-US" sz="1500" dirty="0">
                <a:solidFill>
                  <a:schemeClr val="tx1"/>
                </a:solidFill>
              </a:rPr>
              <a:t>Tag 12 alone, Diwakar edge: 74–85 % in T1 and T2</a:t>
            </a:r>
            <a:endParaRPr lang="en-US" sz="1500" dirty="0"/>
          </a:p>
        </p:txBody>
      </p:sp>
      <p:sp>
        <p:nvSpPr>
          <p:cNvPr id="8" name="points right"/>
          <p:cNvSpPr txBox="1"/>
          <p:nvPr/>
        </p:nvSpPr>
        <p:spPr>
          <a:xfrm>
            <a:off x="6181344" y="5550408"/>
            <a:ext cx="5230368" cy="621792"/>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Two cameras see tag 12 more often than one: T1 80 → 85 %</a:t>
            </a:r>
            <a:endParaRPr lang="en-US" sz="1500" dirty="0"/>
          </a:p>
          <a:p>
            <a:pPr marL="203200" indent="-203200">
              <a:spcAft>
                <a:spcPts val="600"/>
              </a:spcAft>
              <a:buSzPct val="100000"/>
              <a:buChar char="•"/>
            </a:pPr>
            <a:r>
              <a:rPr lang="en-US" sz="1500" dirty="0">
                <a:solidFill>
                  <a:schemeClr val="tx1"/>
                </a:solidFill>
              </a:rPr>
              <a:t>The jig never needs that: some tag is always in view</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Edge refinement jitters at the mocap noise floor</a:t>
            </a:r>
            <a:endParaRPr lang="en-US" sz="3000" dirty="0"/>
          </a:p>
        </p:txBody>
      </p:sp>
      <p:pic>
        <p:nvPicPr>
          <p:cNvPr id="4" name="jitter_box.png" descr="Box plots of static jitter per hold for four refinements and three solvers, plus the mocap noise floor, log axis">    </p:cNvPr>
          <p:cNvPicPr>
            <a:picLocks noChangeAspect="1"/>
          </p:cNvPicPr>
          <p:nvPr/>
        </p:nvPicPr>
        <p:blipFill>
          <a:blip r:embed="rId1"/>
          <a:stretch>
            <a:fillRect/>
          </a:stretch>
        </p:blipFill>
        <p:spPr>
          <a:xfrm>
            <a:off x="548640" y="1188720"/>
            <a:ext cx="7406640" cy="3681547"/>
          </a:xfrm>
          <a:prstGeom prst="rect">
            <a:avLst/>
          </a:prstGeom>
        </p:spPr>
      </p:pic>
      <p:sp>
        <p:nvSpPr>
          <p:cNvPr id="5" name="caption"/>
          <p:cNvSpPr txBox="1"/>
          <p:nvPr/>
        </p:nvSpPr>
        <p:spPr>
          <a:xfrm>
            <a:off x="548640" y="4906843"/>
            <a:ext cx="7406640" cy="274320"/>
          </a:xfrm>
          <a:prstGeom prst="rect">
            <a:avLst/>
          </a:prstGeom>
          <a:noFill/>
          <a:ln/>
        </p:spPr>
        <p:txBody>
          <a:bodyPr wrap="square" lIns="0" tIns="0" rIns="0" bIns="0" rtlCol="0" anchor="ctr"/>
          <a:lstStyle/>
          <a:p>
            <a:pPr indent="0" marL="0">
              <a:buNone/>
            </a:pPr>
            <a:r>
              <a:rPr lang="en-US" sz="1150" i="1" dirty="0">
                <a:solidFill>
                  <a:schemeClr val="accent5"/>
                </a:solidFill>
              </a:rPr>
              <a:t>Box = middle 50 % of holds · line = median (printed) · whiskers = 5th–95th percentile · 8-tag jig · log axis · dashed = mocap median</a:t>
            </a:r>
            <a:endParaRPr lang="en-US" sz="1150" dirty="0"/>
          </a:p>
        </p:txBody>
      </p:sp>
      <p:sp>
        <p:nvSpPr>
          <p:cNvPr id="6" name="points panel"/>
          <p:cNvSpPr/>
          <p:nvPr/>
        </p:nvSpPr>
        <p:spPr>
          <a:xfrm>
            <a:off x="8183880" y="1188720"/>
            <a:ext cx="3429000" cy="5074920"/>
          </a:xfrm>
          <a:prstGeom prst="roundRect">
            <a:avLst>
              <a:gd name="adj" fmla="val 3200"/>
            </a:avLst>
          </a:prstGeom>
          <a:solidFill>
            <a:schemeClr val="bg2"/>
          </a:solidFill>
          <a:ln/>
        </p:spPr>
      </p:sp>
      <p:sp>
        <p:nvSpPr>
          <p:cNvPr id="7" name="points"/>
          <p:cNvSpPr txBox="1"/>
          <p:nvPr/>
        </p:nvSpPr>
        <p:spPr>
          <a:xfrm>
            <a:off x="8385048" y="1371600"/>
            <a:ext cx="3026664" cy="470916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chemeClr val="tx1"/>
                </a:solidFill>
              </a:rPr>
              <a:t>Mocap noise floor: 0.048 mm</a:t>
            </a:r>
            <a:endParaRPr lang="en-US" sz="1600" dirty="0"/>
          </a:p>
          <a:p>
            <a:pPr marL="203200" indent="-203200">
              <a:spcAft>
                <a:spcPts val="600"/>
              </a:spcAft>
              <a:buSzPct val="100000"/>
              <a:buChar char="•"/>
            </a:pPr>
            <a:r>
              <a:rPr lang="en-US" sz="1600" dirty="0">
                <a:solidFill>
                  <a:schemeClr val="tx1"/>
                </a:solidFill>
              </a:rPr>
              <a:t>Diwakar edge: 0.041–0.055 mm, at the floor</a:t>
            </a:r>
            <a:endParaRPr lang="en-US" sz="1600" dirty="0"/>
          </a:p>
          <a:p>
            <a:pPr marL="203200" indent="-203200">
              <a:spcAft>
                <a:spcPts val="600"/>
              </a:spcAft>
              <a:buSzPct val="100000"/>
              <a:buChar char="•"/>
            </a:pPr>
            <a:r>
              <a:rPr lang="en-US" sz="1600" dirty="0">
                <a:solidFill>
                  <a:schemeClr val="tx1"/>
                </a:solidFill>
              </a:rPr>
              <a:t>AprilTag and contour: 0.063–0.088 mm</a:t>
            </a:r>
            <a:endParaRPr lang="en-US" sz="1600" dirty="0"/>
          </a:p>
          <a:p>
            <a:pPr marL="203200" indent="-203200">
              <a:spcAft>
                <a:spcPts val="600"/>
              </a:spcAft>
              <a:buSzPct val="100000"/>
              <a:buChar char="•"/>
            </a:pPr>
            <a:r>
              <a:rPr lang="en-US" sz="1600" dirty="0">
                <a:solidFill>
                  <a:schemeClr val="tx1"/>
                </a:solidFill>
              </a:rPr>
              <a:t>No refine: 0.24–0.36 mm, 5–7× Diwakar edge</a:t>
            </a:r>
            <a:endParaRPr lang="en-US" sz="1600" dirty="0"/>
          </a:p>
          <a:p>
            <a:pPr marL="203200" indent="-203200">
              <a:spcAft>
                <a:spcPts val="600"/>
              </a:spcAft>
              <a:buSzPct val="100000"/>
              <a:buChar char="•"/>
            </a:pPr>
            <a:r>
              <a:rPr lang="en-US" sz="1600" dirty="0">
                <a:solidFill>
                  <a:schemeClr val="tx1"/>
                </a:solidFill>
              </a:rPr>
              <a:t>Rotation jitter, Diwakar edge: 0.011–0.012°</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Jitter grows with distance and sits in depth</a:t>
            </a:r>
            <a:endParaRPr lang="en-US" sz="3000" dirty="0"/>
          </a:p>
        </p:txBody>
      </p:sp>
      <p:pic>
        <p:nvPicPr>
          <p:cNvPr id="4" name="jitter_depth.png" descr="Line plot of median jitter against distance per refinement with the mocap floor, and box plots of jitter per axis">    </p:cNvPr>
          <p:cNvPicPr>
            <a:picLocks noChangeAspect="1"/>
          </p:cNvPicPr>
          <p:nvPr/>
        </p:nvPicPr>
        <p:blipFill>
          <a:blip r:embed="rId1"/>
          <a:stretch>
            <a:fillRect/>
          </a:stretch>
        </p:blipFill>
        <p:spPr>
          <a:xfrm>
            <a:off x="1082258" y="1143000"/>
            <a:ext cx="9997005" cy="3566160"/>
          </a:xfrm>
          <a:prstGeom prst="rect">
            <a:avLst/>
          </a:prstGeom>
        </p:spPr>
      </p:pic>
      <p:sp>
        <p:nvSpPr>
          <p:cNvPr id="5" name="caption"/>
          <p:cNvSpPr txBox="1"/>
          <p:nvPr/>
        </p:nvSpPr>
        <p:spPr>
          <a:xfrm>
            <a:off x="548640" y="4745736"/>
            <a:ext cx="11064240" cy="274320"/>
          </a:xfrm>
          <a:prstGeom prst="rect">
            <a:avLst/>
          </a:prstGeom>
          <a:noFill/>
          <a:ln/>
        </p:spPr>
        <p:txBody>
          <a:bodyPr wrap="square" lIns="0" tIns="0" rIns="0" bIns="0" rtlCol="0" anchor="ctr"/>
          <a:lstStyle/>
          <a:p>
            <a:pPr indent="0" marL="0">
              <a:buNone/>
            </a:pPr>
            <a:r>
              <a:rPr lang="en-US" sz="1150" i="1" dirty="0">
                <a:solidFill>
                  <a:schemeClr val="accent5"/>
                </a:solidFill>
              </a:rPr>
              <a:t>Left: median per 50 mm bin · right: box = middle 50 % of holds · line = median (printed) · whiskers = 5th–95th percentile · log axes</a:t>
            </a:r>
            <a:endParaRPr lang="en-US" sz="1150" dirty="0"/>
          </a:p>
        </p:txBody>
      </p:sp>
      <p:sp>
        <p:nvSpPr>
          <p:cNvPr id="6" name="points panel"/>
          <p:cNvSpPr/>
          <p:nvPr/>
        </p:nvSpPr>
        <p:spPr>
          <a:xfrm>
            <a:off x="548640" y="5074920"/>
            <a:ext cx="11064240" cy="1216152"/>
          </a:xfrm>
          <a:prstGeom prst="roundRect">
            <a:avLst>
              <a:gd name="adj" fmla="val 9023"/>
            </a:avLst>
          </a:prstGeom>
          <a:solidFill>
            <a:schemeClr val="bg2"/>
          </a:solidFill>
          <a:ln/>
        </p:spPr>
      </p:sp>
      <p:sp>
        <p:nvSpPr>
          <p:cNvPr id="7" name="points left"/>
          <p:cNvSpPr txBox="1"/>
          <p:nvPr/>
        </p:nvSpPr>
        <p:spPr>
          <a:xfrm>
            <a:off x="749808" y="5230368"/>
            <a:ext cx="5230368" cy="941832"/>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Every refinement jitters more farther from the cameras</a:t>
            </a:r>
            <a:endParaRPr lang="en-US" sz="1500" dirty="0"/>
          </a:p>
          <a:p>
            <a:pPr lvl="1" marL="355600" indent="-177800">
              <a:spcAft>
                <a:spcPts val="600"/>
              </a:spcAft>
              <a:buSzPct val="100000"/>
              <a:buChar char="•"/>
            </a:pPr>
            <a:r>
              <a:rPr lang="en-US" sz="1300" dirty="0">
                <a:solidFill>
                  <a:schemeClr val="accent5"/>
                </a:solidFill>
              </a:rPr>
              <a:t>Diwakar edge: 0.023 mm at 300–350 mm → 0.069 mm at 550–600 mm</a:t>
            </a:r>
            <a:endParaRPr lang="en-US" sz="1500" dirty="0"/>
          </a:p>
          <a:p>
            <a:pPr marL="203200" indent="-203200">
              <a:spcAft>
                <a:spcPts val="600"/>
              </a:spcAft>
              <a:buSzPct val="100000"/>
              <a:buChar char="•"/>
            </a:pPr>
            <a:r>
              <a:rPr lang="en-US" sz="1500" dirty="0">
                <a:solidFill>
                  <a:schemeClr val="tx1"/>
                </a:solidFill>
              </a:rPr>
              <a:t>Below ~400 mm the camera is steadier than the mocap</a:t>
            </a:r>
            <a:endParaRPr lang="en-US" sz="1500" dirty="0"/>
          </a:p>
        </p:txBody>
      </p:sp>
      <p:sp>
        <p:nvSpPr>
          <p:cNvPr id="8" name="points right"/>
          <p:cNvSpPr txBox="1"/>
          <p:nvPr/>
        </p:nvSpPr>
        <p:spPr>
          <a:xfrm>
            <a:off x="6181344" y="5230368"/>
            <a:ext cx="5230368" cy="941832"/>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Most jitter is along Z depth: 0.045 mm vs X 0.015 and Y 0.011 mm</a:t>
            </a:r>
            <a:endParaRPr lang="en-US" sz="1500" dirty="0"/>
          </a:p>
          <a:p>
            <a:pPr marL="203200" indent="-203200">
              <a:spcAft>
                <a:spcPts val="600"/>
              </a:spcAft>
              <a:buSzPct val="100000"/>
              <a:buChar char="•"/>
            </a:pPr>
            <a:r>
              <a:rPr lang="en-US" sz="1500" dirty="0">
                <a:solidFill>
                  <a:schemeClr val="tx1"/>
                </a:solidFill>
              </a:rPr>
              <a:t>Same direction as the accuracy error: depth is the weak axis</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Under motion: same ranking, error grows with pace</a:t>
            </a:r>
            <a:endParaRPr lang="en-US" sz="3000" dirty="0"/>
          </a:p>
        </p:txBody>
      </p:sp>
      <p:pic>
        <p:nvPicPr>
          <p:cNvPr id="4" name="dyn_box.png" descr="Box plots of per-frame error for each motion task and four refinements">    </p:cNvPr>
          <p:cNvPicPr>
            <a:picLocks noChangeAspect="1"/>
          </p:cNvPicPr>
          <p:nvPr/>
        </p:nvPicPr>
        <p:blipFill>
          <a:blip r:embed="rId1"/>
          <a:stretch>
            <a:fillRect/>
          </a:stretch>
        </p:blipFill>
        <p:spPr>
          <a:xfrm>
            <a:off x="548640" y="1143000"/>
            <a:ext cx="11064240" cy="3579379"/>
          </a:xfrm>
          <a:prstGeom prst="rect">
            <a:avLst/>
          </a:prstGeom>
        </p:spPr>
      </p:pic>
      <p:sp>
        <p:nvSpPr>
          <p:cNvPr id="5" name="caption"/>
          <p:cNvSpPr txBox="1"/>
          <p:nvPr/>
        </p:nvSpPr>
        <p:spPr>
          <a:xfrm>
            <a:off x="548640" y="4758955"/>
            <a:ext cx="11064240" cy="274320"/>
          </a:xfrm>
          <a:prstGeom prst="rect">
            <a:avLst/>
          </a:prstGeom>
          <a:noFill/>
          <a:ln/>
        </p:spPr>
        <p:txBody>
          <a:bodyPr wrap="square" lIns="0" tIns="0" rIns="0" bIns="0" rtlCol="0" anchor="ctr"/>
          <a:lstStyle/>
          <a:p>
            <a:pPr indent="0" marL="0">
              <a:buNone/>
            </a:pPr>
            <a:r>
              <a:rPr lang="en-US" sz="1150" i="1" dirty="0">
                <a:solidFill>
                  <a:schemeClr val="accent5"/>
                </a:solidFill>
              </a:rPr>
              <a:t>Box = middle 50 % of frames · line = median (printed) · whiskers = 5th–95th percentile · both cameras, jig</a:t>
            </a:r>
            <a:endParaRPr lang="en-US" sz="1150" dirty="0"/>
          </a:p>
        </p:txBody>
      </p:sp>
      <p:sp>
        <p:nvSpPr>
          <p:cNvPr id="6" name="points panel"/>
          <p:cNvSpPr/>
          <p:nvPr/>
        </p:nvSpPr>
        <p:spPr>
          <a:xfrm>
            <a:off x="548640" y="5088139"/>
            <a:ext cx="11064240" cy="1202933"/>
          </a:xfrm>
          <a:prstGeom prst="roundRect">
            <a:avLst>
              <a:gd name="adj" fmla="val 9122"/>
            </a:avLst>
          </a:prstGeom>
          <a:solidFill>
            <a:schemeClr val="bg2"/>
          </a:solidFill>
          <a:ln/>
        </p:spPr>
      </p:sp>
      <p:sp>
        <p:nvSpPr>
          <p:cNvPr id="7" name="points left"/>
          <p:cNvSpPr txBox="1"/>
          <p:nvPr/>
        </p:nvSpPr>
        <p:spPr>
          <a:xfrm>
            <a:off x="749808" y="5243587"/>
            <a:ext cx="5230368" cy="928613"/>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Edge ≈ AprilTag &lt; no refine ≈ contour, as on still holds</a:t>
            </a:r>
            <a:endParaRPr lang="en-US" sz="1500" dirty="0"/>
          </a:p>
          <a:p>
            <a:pPr marL="203200" indent="-203200">
              <a:spcAft>
                <a:spcPts val="600"/>
              </a:spcAft>
              <a:buSzPct val="100000"/>
              <a:buChar char="•"/>
            </a:pPr>
            <a:r>
              <a:rPr lang="en-US" sz="1500" dirty="0">
                <a:solidFill>
                  <a:schemeClr val="tx1"/>
                </a:solidFill>
              </a:rPr>
              <a:t>Circle, Diwakar edge: 1.3 → 1.9 → 3.0 mm (slow → fast)</a:t>
            </a:r>
            <a:endParaRPr lang="en-US" sz="1500" dirty="0"/>
          </a:p>
        </p:txBody>
      </p:sp>
      <p:sp>
        <p:nvSpPr>
          <p:cNvPr id="8" name="points right"/>
          <p:cNvSpPr txBox="1"/>
          <p:nvPr/>
        </p:nvSpPr>
        <p:spPr>
          <a:xfrm>
            <a:off x="6181344" y="5243587"/>
            <a:ext cx="5230368" cy="928613"/>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Reaching: 1.1–1.6 mm, close to still holds; it pauses at each target</a:t>
            </a:r>
            <a:endParaRPr lang="en-US" sz="1500" dirty="0"/>
          </a:p>
          <a:p>
            <a:pPr marL="203200" indent="-203200">
              <a:spcAft>
                <a:spcPts val="600"/>
              </a:spcAft>
              <a:buSzPct val="100000"/>
              <a:buChar char="•"/>
            </a:pPr>
            <a:r>
              <a:rPr lang="en-US" sz="1500" dirty="0">
                <a:solidFill>
                  <a:schemeClr val="tx1"/>
                </a:solidFill>
              </a:rPr>
              <a:t>Circle at fast pace: all four tie (2.9–3.0 mm), so something other than corners dominates</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Error peaks where the device moves fastest</a:t>
            </a:r>
            <a:endParaRPr lang="en-US" sz="3000" dirty="0"/>
          </a:p>
        </p:txBody>
      </p:sp>
      <p:pic>
        <p:nvPicPr>
          <p:cNvPr id="4" name="dyn_paths.png" descr="Three table-plane paths coloured by per-frame error: circle comfortable, eight fast, reaching comfortable">    </p:cNvPr>
          <p:cNvPicPr>
            <a:picLocks noChangeAspect="1"/>
          </p:cNvPicPr>
          <p:nvPr/>
        </p:nvPicPr>
        <p:blipFill>
          <a:blip r:embed="rId1"/>
          <a:stretch>
            <a:fillRect/>
          </a:stretch>
        </p:blipFill>
        <p:spPr>
          <a:xfrm>
            <a:off x="548640" y="1143000"/>
            <a:ext cx="11064240" cy="3380201"/>
          </a:xfrm>
          <a:prstGeom prst="rect">
            <a:avLst/>
          </a:prstGeom>
        </p:spPr>
      </p:pic>
      <p:sp>
        <p:nvSpPr>
          <p:cNvPr id="5" name="caption"/>
          <p:cNvSpPr txBox="1"/>
          <p:nvPr/>
        </p:nvSpPr>
        <p:spPr>
          <a:xfrm>
            <a:off x="548640" y="4559777"/>
            <a:ext cx="11064240" cy="274320"/>
          </a:xfrm>
          <a:prstGeom prst="rect">
            <a:avLst/>
          </a:prstGeom>
          <a:noFill/>
          <a:ln/>
        </p:spPr>
        <p:txBody>
          <a:bodyPr wrap="square" lIns="0" tIns="0" rIns="0" bIns="0" rtlCol="0" anchor="ctr"/>
          <a:lstStyle/>
          <a:p>
            <a:pPr indent="0" marL="0">
              <a:buNone/>
            </a:pPr>
            <a:r>
              <a:rPr lang="en-US" sz="1150" i="1" dirty="0">
                <a:solidFill>
                  <a:schemeClr val="accent5"/>
                </a:solidFill>
              </a:rPr>
              <a:t>Mocap path, coloured by per-frame error · Diwakar edge, both cameras, jig</a:t>
            </a:r>
            <a:endParaRPr lang="en-US" sz="1150" dirty="0"/>
          </a:p>
        </p:txBody>
      </p:sp>
      <p:sp>
        <p:nvSpPr>
          <p:cNvPr id="6" name="points panel"/>
          <p:cNvSpPr/>
          <p:nvPr/>
        </p:nvSpPr>
        <p:spPr>
          <a:xfrm>
            <a:off x="548640" y="4888961"/>
            <a:ext cx="11064240" cy="1402111"/>
          </a:xfrm>
          <a:prstGeom prst="roundRect">
            <a:avLst>
              <a:gd name="adj" fmla="val 7826"/>
            </a:avLst>
          </a:prstGeom>
          <a:solidFill>
            <a:schemeClr val="bg2"/>
          </a:solidFill>
          <a:ln/>
        </p:spPr>
      </p:sp>
      <p:sp>
        <p:nvSpPr>
          <p:cNvPr id="7" name="points left"/>
          <p:cNvSpPr txBox="1"/>
          <p:nvPr/>
        </p:nvSpPr>
        <p:spPr>
          <a:xfrm>
            <a:off x="749808" y="5044409"/>
            <a:ext cx="5230368" cy="1127791"/>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Figure-eight, fast: the straight crossings, the fastest part, exceed 5 mm</a:t>
            </a:r>
            <a:endParaRPr lang="en-US" sz="1500" dirty="0"/>
          </a:p>
          <a:p>
            <a:pPr marL="203200" indent="-203200">
              <a:spcAft>
                <a:spcPts val="600"/>
              </a:spcAft>
              <a:buSzPct val="100000"/>
              <a:buChar char="•"/>
            </a:pPr>
            <a:r>
              <a:rPr lang="en-US" sz="1500" dirty="0">
                <a:solidFill>
                  <a:schemeClr val="tx1"/>
                </a:solidFill>
              </a:rPr>
              <a:t>Circle: the error rises on the right-hand turn</a:t>
            </a:r>
            <a:endParaRPr lang="en-US" sz="1500" dirty="0"/>
          </a:p>
        </p:txBody>
      </p:sp>
      <p:sp>
        <p:nvSpPr>
          <p:cNvPr id="8" name="points right"/>
          <p:cNvSpPr txBox="1"/>
          <p:nvPr/>
        </p:nvSpPr>
        <p:spPr>
          <a:xfrm>
            <a:off x="6181344" y="5044409"/>
            <a:ext cx="5230368" cy="1127791"/>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Reaching: median 0.7 mm, higher on some strokes</a:t>
            </a:r>
            <a:endParaRPr lang="en-US" sz="1500" dirty="0"/>
          </a:p>
          <a:p>
            <a:pPr marL="203200" indent="-203200">
              <a:spcAft>
                <a:spcPts val="600"/>
              </a:spcAft>
              <a:buSzPct val="100000"/>
              <a:buChar char="•"/>
            </a:pPr>
            <a:r>
              <a:rPr lang="en-US" sz="1500" dirty="0">
                <a:solidFill>
                  <a:schemeClr val="tx1"/>
                </a:solidFill>
              </a:rPr>
              <a:t>Error follows speed, which points to timing (next slide)</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Most of the extra motion error is an 8 ms timing offset</a:t>
            </a:r>
            <a:endParaRPr lang="en-US" sz="3000" dirty="0"/>
          </a:p>
        </p:txBody>
      </p:sp>
      <p:pic>
        <p:nvPicPr>
          <p:cNvPr id="4" name="dyn_lag.png" descr="Line plots: signed error along and across the direction of motion against speed, and RMSE against a time shift of the mocap">    </p:cNvPr>
          <p:cNvPicPr>
            <a:picLocks noChangeAspect="1"/>
          </p:cNvPicPr>
          <p:nvPr/>
        </p:nvPicPr>
        <p:blipFill>
          <a:blip r:embed="rId1"/>
          <a:stretch>
            <a:fillRect/>
          </a:stretch>
        </p:blipFill>
        <p:spPr>
          <a:xfrm>
            <a:off x="1399364" y="1143000"/>
            <a:ext cx="9362792" cy="3337560"/>
          </a:xfrm>
          <a:prstGeom prst="rect">
            <a:avLst/>
          </a:prstGeom>
        </p:spPr>
      </p:pic>
      <p:sp>
        <p:nvSpPr>
          <p:cNvPr id="5" name="points panel"/>
          <p:cNvSpPr/>
          <p:nvPr/>
        </p:nvSpPr>
        <p:spPr>
          <a:xfrm>
            <a:off x="548640" y="4617720"/>
            <a:ext cx="11064240" cy="1673352"/>
          </a:xfrm>
          <a:prstGeom prst="roundRect">
            <a:avLst>
              <a:gd name="adj" fmla="val 6557"/>
            </a:avLst>
          </a:prstGeom>
          <a:solidFill>
            <a:schemeClr val="bg2"/>
          </a:solidFill>
          <a:ln/>
        </p:spPr>
      </p:sp>
      <p:sp>
        <p:nvSpPr>
          <p:cNvPr id="6" name="points left"/>
          <p:cNvSpPr txBox="1"/>
          <p:nvPr/>
        </p:nvSpPr>
        <p:spPr>
          <a:xfrm>
            <a:off x="749808" y="4773168"/>
            <a:ext cx="5230368" cy="1399032"/>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chemeClr val="tx1"/>
                </a:solidFill>
              </a:rPr>
              <a:t>Error points along the travel: 7.6 ms × speed; across it ≈ 0</a:t>
            </a:r>
            <a:endParaRPr lang="en-US" sz="1450" dirty="0"/>
          </a:p>
          <a:p>
            <a:pPr marL="203200" indent="-203200">
              <a:spcAft>
                <a:spcPts val="600"/>
              </a:spcAft>
              <a:buSzPct val="100000"/>
              <a:buChar char="•"/>
            </a:pPr>
            <a:r>
              <a:rPr lang="en-US" sz="1450" dirty="0">
                <a:solidFill>
                  <a:schemeClr val="tx1"/>
                </a:solidFill>
              </a:rPr>
              <a:t>The camera reports where mocap is ~8 ms later: a clock offset</a:t>
            </a:r>
            <a:endParaRPr lang="en-US" sz="1450" dirty="0"/>
          </a:p>
          <a:p>
            <a:pPr marL="203200" indent="-203200">
              <a:spcAft>
                <a:spcPts val="600"/>
              </a:spcAft>
              <a:buSzPct val="100000"/>
              <a:buChar char="•"/>
            </a:pPr>
            <a:r>
              <a:rPr lang="en-US" sz="1450" dirty="0">
                <a:solidFill>
                  <a:schemeClr val="tx1"/>
                </a:solidFill>
              </a:rPr>
              <a:t>Mocap read 7–8 ms later: RMSE 2.2 → 1.7 mm (both cameras), 1.9 → 1.2 mm (cam0)</a:t>
            </a:r>
            <a:endParaRPr lang="en-US" sz="1450" dirty="0"/>
          </a:p>
        </p:txBody>
      </p:sp>
      <p:sp>
        <p:nvSpPr>
          <p:cNvPr id="7" name="points right"/>
          <p:cNvSpPr txBox="1"/>
          <p:nvPr/>
        </p:nvSpPr>
        <p:spPr>
          <a:xfrm>
            <a:off x="6181344" y="4773168"/>
            <a:ext cx="5230368" cy="1399032"/>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chemeClr val="tx1"/>
                </a:solidFill>
              </a:rPr>
              <a:t>Circle, fast: median 3.0 → 2.1 mm</a:t>
            </a:r>
            <a:endParaRPr lang="en-US" sz="1450" dirty="0"/>
          </a:p>
          <a:p>
            <a:pPr marL="203200" indent="-203200">
              <a:spcAft>
                <a:spcPts val="600"/>
              </a:spcAft>
              <a:buSzPct val="100000"/>
              <a:buChar char="•"/>
            </a:pPr>
            <a:r>
              <a:rPr lang="en-US" sz="1450" dirty="0">
                <a:solidFill>
                  <a:schemeClr val="tx1"/>
                </a:solidFill>
              </a:rPr>
              <a:t>The cameras agree within 0.1 ms: the offset is camera vs mocap</a:t>
            </a:r>
            <a:endParaRPr lang="en-US" sz="1450" dirty="0"/>
          </a:p>
          <a:p>
            <a:pPr marL="203200" indent="-203200">
              <a:spcAft>
                <a:spcPts val="600"/>
              </a:spcAft>
              <a:buSzPct val="100000"/>
              <a:buChar char="•"/>
            </a:pPr>
            <a:r>
              <a:rPr lang="en-US" sz="1450" dirty="0">
                <a:solidFill>
                  <a:schemeClr val="tx1"/>
                </a:solidFill>
              </a:rPr>
              <a:t>Open: after the shift, one camera beats two under motion</a:t>
            </a:r>
            <a:endParaRPr lang="en-US" sz="14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Jig vs tag 12 while moving</a:t>
            </a:r>
            <a:endParaRPr lang="en-US" sz="3000" dirty="0"/>
          </a:p>
        </p:txBody>
      </p:sp>
      <p:pic>
        <p:nvPicPr>
          <p:cNvPr id="4" name="dyn_trace.png" descr="Time series of X and Z error during the circle take, jig versus tag 12 only">    </p:cNvPr>
          <p:cNvPicPr>
            <a:picLocks noChangeAspect="1"/>
          </p:cNvPicPr>
          <p:nvPr/>
        </p:nvPicPr>
        <p:blipFill>
          <a:blip r:embed="rId1"/>
          <a:stretch>
            <a:fillRect/>
          </a:stretch>
        </p:blipFill>
        <p:spPr>
          <a:xfrm>
            <a:off x="1304653" y="1143000"/>
            <a:ext cx="9552214" cy="3566160"/>
          </a:xfrm>
          <a:prstGeom prst="rect">
            <a:avLst/>
          </a:prstGeom>
        </p:spPr>
      </p:pic>
      <p:sp>
        <p:nvSpPr>
          <p:cNvPr id="5" name="caption"/>
          <p:cNvSpPr txBox="1"/>
          <p:nvPr/>
        </p:nvSpPr>
        <p:spPr>
          <a:xfrm>
            <a:off x="548640" y="4745736"/>
            <a:ext cx="11064240" cy="274320"/>
          </a:xfrm>
          <a:prstGeom prst="rect">
            <a:avLst/>
          </a:prstGeom>
          <a:noFill/>
          <a:ln/>
        </p:spPr>
        <p:txBody>
          <a:bodyPr wrap="square" lIns="0" tIns="0" rIns="0" bIns="0" rtlCol="0" anchor="ctr"/>
          <a:lstStyle/>
          <a:p>
            <a:pPr indent="0" marL="0">
              <a:buNone/>
            </a:pPr>
            <a:r>
              <a:rPr lang="en-US" sz="1150" i="1" dirty="0">
                <a:solidFill>
                  <a:schemeClr val="accent5"/>
                </a:solidFill>
              </a:rPr>
              <a:t>T2 circle, comfortable · both cameras, Diwakar edge · gaps = no pose</a:t>
            </a:r>
            <a:endParaRPr lang="en-US" sz="1150" dirty="0"/>
          </a:p>
        </p:txBody>
      </p:sp>
      <p:sp>
        <p:nvSpPr>
          <p:cNvPr id="6" name="points panel"/>
          <p:cNvSpPr/>
          <p:nvPr/>
        </p:nvSpPr>
        <p:spPr>
          <a:xfrm>
            <a:off x="548640" y="5074920"/>
            <a:ext cx="11064240" cy="1216152"/>
          </a:xfrm>
          <a:prstGeom prst="roundRect">
            <a:avLst>
              <a:gd name="adj" fmla="val 9023"/>
            </a:avLst>
          </a:prstGeom>
          <a:solidFill>
            <a:schemeClr val="bg2"/>
          </a:solidFill>
          <a:ln/>
        </p:spPr>
      </p:sp>
      <p:sp>
        <p:nvSpPr>
          <p:cNvPr id="7" name="points left"/>
          <p:cNvSpPr txBox="1"/>
          <p:nvPr/>
        </p:nvSpPr>
        <p:spPr>
          <a:xfrm>
            <a:off x="749808" y="5230368"/>
            <a:ext cx="5230368" cy="941832"/>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Tag 12 alone drops out and errs more: median |X| 1.5 vs 1.0 mm, |Z| 1.3 vs 0.9 mm</a:t>
            </a:r>
            <a:endParaRPr lang="en-US" sz="1500" dirty="0"/>
          </a:p>
          <a:p>
            <a:pPr marL="203200" indent="-203200">
              <a:spcAft>
                <a:spcPts val="600"/>
              </a:spcAft>
              <a:buSzPct val="100000"/>
              <a:buChar char="•"/>
            </a:pPr>
            <a:r>
              <a:rPr lang="en-US" sz="1500" dirty="0">
                <a:solidFill>
                  <a:schemeClr val="tx1"/>
                </a:solidFill>
              </a:rPr>
              <a:t>All T2 / T3: 2.1 vs 1.6 mm median</a:t>
            </a:r>
            <a:endParaRPr lang="en-US" sz="1500" dirty="0"/>
          </a:p>
        </p:txBody>
      </p:sp>
      <p:sp>
        <p:nvSpPr>
          <p:cNvPr id="8" name="points right"/>
          <p:cNvSpPr txBox="1"/>
          <p:nvPr/>
        </p:nvSpPr>
        <p:spPr>
          <a:xfrm>
            <a:off x="6181344" y="5230368"/>
            <a:ext cx="5230368" cy="941832"/>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Z spikes come at the same moments for both: the fast part of each lap</a:t>
            </a:r>
            <a:endParaRPr lang="en-US" sz="1500" dirty="0"/>
          </a:p>
          <a:p>
            <a:pPr marL="203200" indent="-203200">
              <a:spcAft>
                <a:spcPts val="600"/>
              </a:spcAft>
              <a:buSzPct val="100000"/>
              <a:buChar char="•"/>
            </a:pPr>
            <a:r>
              <a:rPr lang="en-US" sz="1500" dirty="0">
                <a:solidFill>
                  <a:schemeClr val="tx1"/>
                </a:solidFill>
              </a:rPr>
              <a:t>That is the timing offset, not detection</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Diwakar's 13-parameter fit: reproduced, but optimistic</a:t>
            </a:r>
            <a:endParaRPr lang="en-US" sz="3000" dirty="0"/>
          </a:p>
        </p:txBody>
      </p:sp>
      <p:pic>
        <p:nvPicPr>
          <p:cNvPr id="4" name="his_metric.png" descr="Box plots of absolute error per hold in his three axes for three fitting choices">    </p:cNvPr>
          <p:cNvPicPr>
            <a:picLocks noChangeAspect="1"/>
          </p:cNvPicPr>
          <p:nvPr/>
        </p:nvPicPr>
        <p:blipFill>
          <a:blip r:embed="rId1"/>
          <a:stretch>
            <a:fillRect/>
          </a:stretch>
        </p:blipFill>
        <p:spPr>
          <a:xfrm>
            <a:off x="901612" y="1143000"/>
            <a:ext cx="10358296" cy="3520440"/>
          </a:xfrm>
          <a:prstGeom prst="rect">
            <a:avLst/>
          </a:prstGeom>
        </p:spPr>
      </p:pic>
      <p:sp>
        <p:nvSpPr>
          <p:cNvPr id="5" name="caption"/>
          <p:cNvSpPr txBox="1"/>
          <p:nvPr/>
        </p:nvSpPr>
        <p:spPr>
          <a:xfrm>
            <a:off x="548640" y="4700016"/>
            <a:ext cx="11064240" cy="274320"/>
          </a:xfrm>
          <a:prstGeom prst="rect">
            <a:avLst/>
          </a:prstGeom>
          <a:noFill/>
          <a:ln/>
        </p:spPr>
        <p:txBody>
          <a:bodyPr wrap="square" lIns="0" tIns="0" rIns="0" bIns="0" rtlCol="0" anchor="ctr"/>
          <a:lstStyle/>
          <a:p>
            <a:pPr indent="0" marL="0">
              <a:buNone/>
            </a:pPr>
            <a:r>
              <a:rPr lang="en-US" sz="1150" i="1" dirty="0">
                <a:solidFill>
                  <a:schemeClr val="accent5"/>
                </a:solidFill>
              </a:rPr>
              <a:t>Box = middle 50 % of holds · line = median (printed) · whiskers = 5th–95th percentile · his device pose (samples.csv) and fit</a:t>
            </a:r>
            <a:endParaRPr lang="en-US" sz="1150" dirty="0"/>
          </a:p>
        </p:txBody>
      </p:sp>
      <p:sp>
        <p:nvSpPr>
          <p:cNvPr id="6" name="points panel"/>
          <p:cNvSpPr/>
          <p:nvPr/>
        </p:nvSpPr>
        <p:spPr>
          <a:xfrm>
            <a:off x="548640" y="5029200"/>
            <a:ext cx="11064240" cy="1261872"/>
          </a:xfrm>
          <a:prstGeom prst="roundRect">
            <a:avLst>
              <a:gd name="adj" fmla="val 8696"/>
            </a:avLst>
          </a:prstGeom>
          <a:solidFill>
            <a:schemeClr val="bg2"/>
          </a:solidFill>
          <a:ln/>
        </p:spPr>
      </p:sp>
      <p:sp>
        <p:nvSpPr>
          <p:cNvPr id="7" name="points left"/>
          <p:cNvSpPr txBox="1"/>
          <p:nvPr/>
        </p:nvSpPr>
        <p:spPr>
          <a:xfrm>
            <a:off x="749808" y="5184648"/>
            <a:ext cx="5230368" cy="987552"/>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His published run-1 RMSE reproduced exactly: 0.31 / 0.63 / 0.33 mm (across / depth / height)</a:t>
            </a:r>
            <a:endParaRPr lang="en-US" sz="1500" dirty="0"/>
          </a:p>
          <a:p>
            <a:pPr marL="203200" indent="-203200">
              <a:spcAft>
                <a:spcPts val="600"/>
              </a:spcAft>
              <a:buSzPct val="100000"/>
              <a:buChar char="•"/>
            </a:pPr>
            <a:r>
              <a:rPr lang="en-US" sz="1500" dirty="0">
                <a:solidFill>
                  <a:schemeClr val="tx1"/>
                </a:solidFill>
              </a:rPr>
              <a:t>Scored on the other run: 0.36 / 0.70 / 0.42 mm</a:t>
            </a:r>
            <a:endParaRPr lang="en-US" sz="1500" dirty="0"/>
          </a:p>
        </p:txBody>
      </p:sp>
      <p:sp>
        <p:nvSpPr>
          <p:cNvPr id="8" name="points right"/>
          <p:cNvSpPr txBox="1"/>
          <p:nvPr/>
        </p:nvSpPr>
        <p:spPr>
          <a:xfrm>
            <a:off x="6181344" y="5184648"/>
            <a:ext cx="5230368" cy="987552"/>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Scale fixed at 1: 0.76 / 0.92 / 0.42 mm, close to our 9-parameter numbers</a:t>
            </a:r>
            <a:endParaRPr lang="en-US" sz="1500" dirty="0"/>
          </a:p>
          <a:p>
            <a:pPr marL="203200" indent="-203200">
              <a:spcAft>
                <a:spcPts val="600"/>
              </a:spcAft>
              <a:buSzPct val="100000"/>
              <a:buChar char="•"/>
            </a:pPr>
            <a:r>
              <a:rPr lang="en-US" sz="1500" dirty="0">
                <a:solidFill>
                  <a:schemeClr val="tx1"/>
                </a:solidFill>
              </a:rPr>
              <a:t>His fitted scale, 0.992 and 0.994, is the 0.5–0.8 % depth scale error</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Undistort the image or the corners: a tie</a:t>
            </a:r>
            <a:endParaRPr lang="en-US" sz="3000" dirty="0"/>
          </a:p>
        </p:txBody>
      </p:sp>
      <p:pic>
        <p:nvPicPr>
          <p:cNvPr id="4" name="paths.png" descr="Line plot of corner gap against distance from image centre, box plots of the jitter ratio and of accuracy for both paths">    </p:cNvPr>
          <p:cNvPicPr>
            <a:picLocks noChangeAspect="1"/>
          </p:cNvPicPr>
          <p:nvPr/>
        </p:nvPicPr>
        <p:blipFill>
          <a:blip r:embed="rId1"/>
          <a:stretch>
            <a:fillRect/>
          </a:stretch>
        </p:blipFill>
        <p:spPr>
          <a:xfrm>
            <a:off x="548640" y="1143000"/>
            <a:ext cx="11064240" cy="3377505"/>
          </a:xfrm>
          <a:prstGeom prst="rect">
            <a:avLst/>
          </a:prstGeom>
        </p:spPr>
      </p:pic>
      <p:sp>
        <p:nvSpPr>
          <p:cNvPr id="5" name="caption"/>
          <p:cNvSpPr txBox="1"/>
          <p:nvPr/>
        </p:nvSpPr>
        <p:spPr>
          <a:xfrm>
            <a:off x="548640" y="4557081"/>
            <a:ext cx="11064240" cy="274320"/>
          </a:xfrm>
          <a:prstGeom prst="rect">
            <a:avLst/>
          </a:prstGeom>
          <a:noFill/>
          <a:ln/>
        </p:spPr>
        <p:txBody>
          <a:bodyPr wrap="square" lIns="0" tIns="0" rIns="0" bIns="0" rtlCol="0" anchor="ctr"/>
          <a:lstStyle/>
          <a:p>
            <a:pPr indent="0" marL="0">
              <a:buNone/>
            </a:pPr>
            <a:r>
              <a:rPr lang="en-US" sz="1150" i="1" dirty="0">
                <a:solidFill>
                  <a:schemeClr val="accent5"/>
                </a:solidFill>
              </a:rPr>
              <a:t>Left: median per radius bin · middle, right: box = middle 50 % of holds · line = median (printed) · whiskers = 5th–95th percentile · right: dark = image, light = corners</a:t>
            </a:r>
            <a:endParaRPr lang="en-US" sz="1150" dirty="0"/>
          </a:p>
        </p:txBody>
      </p:sp>
      <p:sp>
        <p:nvSpPr>
          <p:cNvPr id="6" name="points panel"/>
          <p:cNvSpPr/>
          <p:nvPr/>
        </p:nvSpPr>
        <p:spPr>
          <a:xfrm>
            <a:off x="548640" y="4886265"/>
            <a:ext cx="11064240" cy="1404807"/>
          </a:xfrm>
          <a:prstGeom prst="roundRect">
            <a:avLst>
              <a:gd name="adj" fmla="val 7811"/>
            </a:avLst>
          </a:prstGeom>
          <a:solidFill>
            <a:schemeClr val="bg2"/>
          </a:solidFill>
          <a:ln/>
        </p:spPr>
      </p:sp>
      <p:sp>
        <p:nvSpPr>
          <p:cNvPr id="7" name="points left"/>
          <p:cNvSpPr txBox="1"/>
          <p:nvPr/>
        </p:nvSpPr>
        <p:spPr>
          <a:xfrm>
            <a:off x="749808" y="5041713"/>
            <a:ext cx="5230368" cy="1130487"/>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Corners differ more toward the image edge: Diwakar edge 0.09 → 0.79 px</a:t>
            </a:r>
            <a:endParaRPr lang="en-US" sz="1500" dirty="0"/>
          </a:p>
          <a:p>
            <a:pPr marL="203200" indent="-203200">
              <a:spcAft>
                <a:spcPts val="600"/>
              </a:spcAft>
              <a:buSzPct val="100000"/>
              <a:buChar char="•"/>
            </a:pPr>
            <a:r>
              <a:rPr lang="en-US" sz="1500" dirty="0">
                <a:solidFill>
                  <a:schemeClr val="tx1"/>
                </a:solidFill>
              </a:rPr>
              <a:t>Accuracy ties: Diwakar edge 0.97 vs 1.02 mm, AprilTag 0.97 vs 1.02 mm (image vs corners)</a:t>
            </a:r>
            <a:endParaRPr lang="en-US" sz="1500" dirty="0"/>
          </a:p>
        </p:txBody>
      </p:sp>
      <p:sp>
        <p:nvSpPr>
          <p:cNvPr id="8" name="points right"/>
          <p:cNvSpPr txBox="1"/>
          <p:nvPr/>
        </p:nvSpPr>
        <p:spPr>
          <a:xfrm>
            <a:off x="6181344" y="5041713"/>
            <a:ext cx="5230368" cy="1130487"/>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Undistorting the image jitters less for threshold refinements: 16 % (no refine), 8 % (contour)</a:t>
            </a:r>
            <a:endParaRPr lang="en-US" sz="1500" dirty="0"/>
          </a:p>
          <a:p>
            <a:pPr marL="203200" indent="-203200">
              <a:spcAft>
                <a:spcPts val="600"/>
              </a:spcAft>
              <a:buSzPct val="100000"/>
              <a:buChar char="•"/>
            </a:pPr>
            <a:r>
              <a:rPr lang="en-US" sz="1500" dirty="0">
                <a:solidFill>
                  <a:schemeClr val="tx1"/>
                </a:solidFill>
              </a:rPr>
              <a:t>Edge and AprilTag: 1–3 %, no reason to change the tracker</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Summary</a:t>
            </a:r>
            <a:endParaRPr lang="en-US" sz="3000" dirty="0"/>
          </a:p>
        </p:txBody>
      </p:sp>
      <p:sp>
        <p:nvSpPr>
          <p:cNvPr id="4" name="stat card 0"/>
          <p:cNvSpPr/>
          <p:nvPr/>
        </p:nvSpPr>
        <p:spPr>
          <a:xfrm>
            <a:off x="548640" y="1234440"/>
            <a:ext cx="2606040" cy="2148840"/>
          </a:xfrm>
          <a:prstGeom prst="roundRect">
            <a:avLst>
              <a:gd name="adj" fmla="val 5106"/>
            </a:avLst>
          </a:prstGeom>
          <a:solidFill>
            <a:schemeClr val="bg2"/>
          </a:solidFill>
          <a:ln/>
        </p:spPr>
      </p:sp>
      <p:sp>
        <p:nvSpPr>
          <p:cNvPr id="5" name="Text 2"/>
          <p:cNvSpPr txBox="1"/>
          <p:nvPr/>
        </p:nvSpPr>
        <p:spPr>
          <a:xfrm>
            <a:off x="731520" y="1371600"/>
            <a:ext cx="2240280" cy="822960"/>
          </a:xfrm>
          <a:prstGeom prst="rect">
            <a:avLst/>
          </a:prstGeom>
          <a:noFill/>
          <a:ln/>
        </p:spPr>
        <p:txBody>
          <a:bodyPr wrap="square" lIns="0" tIns="0" rIns="0" bIns="0" rtlCol="0" anchor="ctr"/>
          <a:lstStyle/>
          <a:p>
            <a:pPr indent="0" marL="0">
              <a:buNone/>
            </a:pPr>
            <a:r>
              <a:rPr lang="en-US" sz="3000" b="1" dirty="0">
                <a:solidFill>
                  <a:srgbClr val="0072B2"/>
                </a:solidFill>
              </a:rPr>
              <a:t>0.8–1.0 mm</a:t>
            </a:r>
            <a:endParaRPr lang="en-US" sz="3000" dirty="0"/>
          </a:p>
        </p:txBody>
      </p:sp>
      <p:sp>
        <p:nvSpPr>
          <p:cNvPr id="6" name="Text 3"/>
          <p:cNvSpPr txBox="1"/>
          <p:nvPr/>
        </p:nvSpPr>
        <p:spPr>
          <a:xfrm>
            <a:off x="731520" y="2240280"/>
            <a:ext cx="2240280" cy="1051560"/>
          </a:xfrm>
          <a:prstGeom prst="rect">
            <a:avLst/>
          </a:prstGeom>
          <a:noFill/>
          <a:ln/>
        </p:spPr>
        <p:txBody>
          <a:bodyPr wrap="square" lIns="0" tIns="0" rIns="0" bIns="0" rtlCol="0" anchor="t"/>
          <a:lstStyle/>
          <a:p>
            <a:pPr indent="0" marL="0">
              <a:buNone/>
            </a:pPr>
            <a:r>
              <a:rPr lang="en-US" sz="1400" dirty="0">
                <a:solidFill>
                  <a:schemeClr val="tx1"/>
                </a:solidFill>
              </a:rPr>
              <a:t>Still-hold error, Diwakar edge or AprilTag refine, jig, any solver</a:t>
            </a:r>
            <a:endParaRPr lang="en-US" sz="1400" dirty="0"/>
          </a:p>
        </p:txBody>
      </p:sp>
      <p:sp>
        <p:nvSpPr>
          <p:cNvPr id="7" name="stat card 1"/>
          <p:cNvSpPr/>
          <p:nvPr/>
        </p:nvSpPr>
        <p:spPr>
          <a:xfrm>
            <a:off x="3383280" y="1234440"/>
            <a:ext cx="2606040" cy="2148840"/>
          </a:xfrm>
          <a:prstGeom prst="roundRect">
            <a:avLst>
              <a:gd name="adj" fmla="val 5106"/>
            </a:avLst>
          </a:prstGeom>
          <a:solidFill>
            <a:schemeClr val="bg2"/>
          </a:solidFill>
          <a:ln/>
        </p:spPr>
      </p:sp>
      <p:sp>
        <p:nvSpPr>
          <p:cNvPr id="8" name="Text 5"/>
          <p:cNvSpPr txBox="1"/>
          <p:nvPr/>
        </p:nvSpPr>
        <p:spPr>
          <a:xfrm>
            <a:off x="3566160" y="1371600"/>
            <a:ext cx="2240280" cy="822960"/>
          </a:xfrm>
          <a:prstGeom prst="rect">
            <a:avLst/>
          </a:prstGeom>
          <a:noFill/>
          <a:ln/>
        </p:spPr>
        <p:txBody>
          <a:bodyPr wrap="square" lIns="0" tIns="0" rIns="0" bIns="0" rtlCol="0" anchor="ctr"/>
          <a:lstStyle/>
          <a:p>
            <a:pPr indent="0" marL="0">
              <a:buNone/>
            </a:pPr>
            <a:r>
              <a:rPr lang="en-US" sz="3000" b="1" dirty="0">
                <a:solidFill>
                  <a:srgbClr val="D55E00"/>
                </a:solidFill>
              </a:rPr>
              <a:t>0.05 mm</a:t>
            </a:r>
            <a:endParaRPr lang="en-US" sz="3000" dirty="0"/>
          </a:p>
        </p:txBody>
      </p:sp>
      <p:sp>
        <p:nvSpPr>
          <p:cNvPr id="9" name="Text 6"/>
          <p:cNvSpPr txBox="1"/>
          <p:nvPr/>
        </p:nvSpPr>
        <p:spPr>
          <a:xfrm>
            <a:off x="3566160" y="2240280"/>
            <a:ext cx="2240280" cy="1051560"/>
          </a:xfrm>
          <a:prstGeom prst="rect">
            <a:avLst/>
          </a:prstGeom>
          <a:noFill/>
          <a:ln/>
        </p:spPr>
        <p:txBody>
          <a:bodyPr wrap="square" lIns="0" tIns="0" rIns="0" bIns="0" rtlCol="0" anchor="t"/>
          <a:lstStyle/>
          <a:p>
            <a:pPr indent="0" marL="0">
              <a:buNone/>
            </a:pPr>
            <a:r>
              <a:rPr lang="en-US" sz="1400" dirty="0">
                <a:solidFill>
                  <a:schemeClr val="tx1"/>
                </a:solidFill>
              </a:rPr>
              <a:t>Static jitter with Diwakar edge: at the mocap noise floor</a:t>
            </a:r>
            <a:endParaRPr lang="en-US" sz="1400" dirty="0"/>
          </a:p>
        </p:txBody>
      </p:sp>
      <p:sp>
        <p:nvSpPr>
          <p:cNvPr id="10" name="stat card 2"/>
          <p:cNvSpPr/>
          <p:nvPr/>
        </p:nvSpPr>
        <p:spPr>
          <a:xfrm>
            <a:off x="6217920" y="1234440"/>
            <a:ext cx="2606040" cy="2148840"/>
          </a:xfrm>
          <a:prstGeom prst="roundRect">
            <a:avLst>
              <a:gd name="adj" fmla="val 5106"/>
            </a:avLst>
          </a:prstGeom>
          <a:solidFill>
            <a:schemeClr val="bg2"/>
          </a:solidFill>
          <a:ln/>
        </p:spPr>
      </p:sp>
      <p:sp>
        <p:nvSpPr>
          <p:cNvPr id="11" name="Text 8"/>
          <p:cNvSpPr txBox="1"/>
          <p:nvPr/>
        </p:nvSpPr>
        <p:spPr>
          <a:xfrm>
            <a:off x="6400800" y="1371600"/>
            <a:ext cx="2240280" cy="822960"/>
          </a:xfrm>
          <a:prstGeom prst="rect">
            <a:avLst/>
          </a:prstGeom>
          <a:noFill/>
          <a:ln/>
        </p:spPr>
        <p:txBody>
          <a:bodyPr wrap="square" lIns="0" tIns="0" rIns="0" bIns="0" rtlCol="0" anchor="ctr"/>
          <a:lstStyle/>
          <a:p>
            <a:pPr indent="0" marL="0">
              <a:buNone/>
            </a:pPr>
            <a:r>
              <a:rPr lang="en-US" sz="3000" b="1" dirty="0">
                <a:solidFill>
                  <a:schemeClr val="tx2"/>
                </a:solidFill>
              </a:rPr>
              <a:t>+0.5 %</a:t>
            </a:r>
            <a:endParaRPr lang="en-US" sz="3000" dirty="0"/>
          </a:p>
        </p:txBody>
      </p:sp>
      <p:sp>
        <p:nvSpPr>
          <p:cNvPr id="12" name="Text 9"/>
          <p:cNvSpPr txBox="1"/>
          <p:nvPr/>
        </p:nvSpPr>
        <p:spPr>
          <a:xfrm>
            <a:off x="6400800" y="2240280"/>
            <a:ext cx="2240280" cy="1051560"/>
          </a:xfrm>
          <a:prstGeom prst="rect">
            <a:avLst/>
          </a:prstGeom>
          <a:noFill/>
          <a:ln/>
        </p:spPr>
        <p:txBody>
          <a:bodyPr wrap="square" lIns="0" tIns="0" rIns="0" bIns="0" rtlCol="0" anchor="t"/>
          <a:lstStyle/>
          <a:p>
            <a:pPr indent="0" marL="0">
              <a:buNone/>
            </a:pPr>
            <a:r>
              <a:rPr lang="en-US" sz="1400" dirty="0">
                <a:solidFill>
                  <a:schemeClr val="tx1"/>
                </a:solidFill>
              </a:rPr>
              <a:t>Distances read too long: the main still-hold error</a:t>
            </a:r>
            <a:endParaRPr lang="en-US" sz="1400" dirty="0"/>
          </a:p>
        </p:txBody>
      </p:sp>
      <p:sp>
        <p:nvSpPr>
          <p:cNvPr id="13" name="stat card 3"/>
          <p:cNvSpPr/>
          <p:nvPr/>
        </p:nvSpPr>
        <p:spPr>
          <a:xfrm>
            <a:off x="9052560" y="1234440"/>
            <a:ext cx="2606040" cy="2148840"/>
          </a:xfrm>
          <a:prstGeom prst="roundRect">
            <a:avLst>
              <a:gd name="adj" fmla="val 5106"/>
            </a:avLst>
          </a:prstGeom>
          <a:solidFill>
            <a:schemeClr val="bg2"/>
          </a:solidFill>
          <a:ln/>
        </p:spPr>
      </p:sp>
      <p:sp>
        <p:nvSpPr>
          <p:cNvPr id="14" name="Text 11"/>
          <p:cNvSpPr txBox="1"/>
          <p:nvPr/>
        </p:nvSpPr>
        <p:spPr>
          <a:xfrm>
            <a:off x="9235440" y="1371600"/>
            <a:ext cx="2240280" cy="822960"/>
          </a:xfrm>
          <a:prstGeom prst="rect">
            <a:avLst/>
          </a:prstGeom>
          <a:noFill/>
          <a:ln/>
        </p:spPr>
        <p:txBody>
          <a:bodyPr wrap="square" lIns="0" tIns="0" rIns="0" bIns="0" rtlCol="0" anchor="ctr"/>
          <a:lstStyle/>
          <a:p>
            <a:pPr indent="0" marL="0">
              <a:buNone/>
            </a:pPr>
            <a:r>
              <a:rPr lang="en-US" sz="3000" b="1" dirty="0">
                <a:solidFill>
                  <a:schemeClr val="tx2"/>
                </a:solidFill>
              </a:rPr>
              <a:t>8 ms</a:t>
            </a:r>
            <a:endParaRPr lang="en-US" sz="3000" dirty="0"/>
          </a:p>
        </p:txBody>
      </p:sp>
      <p:sp>
        <p:nvSpPr>
          <p:cNvPr id="15" name="Text 12"/>
          <p:cNvSpPr txBox="1"/>
          <p:nvPr/>
        </p:nvSpPr>
        <p:spPr>
          <a:xfrm>
            <a:off x="9235440" y="2240280"/>
            <a:ext cx="2240280" cy="1051560"/>
          </a:xfrm>
          <a:prstGeom prst="rect">
            <a:avLst/>
          </a:prstGeom>
          <a:noFill/>
          <a:ln/>
        </p:spPr>
        <p:txBody>
          <a:bodyPr wrap="square" lIns="0" tIns="0" rIns="0" bIns="0" rtlCol="0" anchor="t"/>
          <a:lstStyle/>
          <a:p>
            <a:pPr indent="0" marL="0">
              <a:buNone/>
            </a:pPr>
            <a:r>
              <a:rPr lang="en-US" sz="1400" dirty="0">
                <a:solidFill>
                  <a:schemeClr val="tx1"/>
                </a:solidFill>
              </a:rPr>
              <a:t>Camera–mocap timing offset: most of the extra error under motion</a:t>
            </a:r>
            <a:endParaRPr lang="en-US" sz="1400" dirty="0"/>
          </a:p>
        </p:txBody>
      </p:sp>
      <p:sp>
        <p:nvSpPr>
          <p:cNvPr id="16" name="points panel"/>
          <p:cNvSpPr/>
          <p:nvPr/>
        </p:nvSpPr>
        <p:spPr>
          <a:xfrm>
            <a:off x="548640" y="3611880"/>
            <a:ext cx="11064240" cy="2651760"/>
          </a:xfrm>
          <a:prstGeom prst="roundRect">
            <a:avLst>
              <a:gd name="adj" fmla="val 4138"/>
            </a:avLst>
          </a:prstGeom>
          <a:solidFill>
            <a:schemeClr val="bg2"/>
          </a:solidFill>
          <a:ln/>
        </p:spPr>
      </p:sp>
      <p:sp>
        <p:nvSpPr>
          <p:cNvPr id="17" name="points"/>
          <p:cNvSpPr txBox="1"/>
          <p:nvPr/>
        </p:nvSpPr>
        <p:spPr>
          <a:xfrm>
            <a:off x="749808" y="3794760"/>
            <a:ext cx="10661904" cy="228600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chemeClr val="tx1"/>
                </a:solidFill>
              </a:rPr>
              <a:t>Keep Diwakar edge refinement; AprilTag refine is an equal drop-in. Drop no refine and OpenCV contour</a:t>
            </a:r>
            <a:endParaRPr lang="en-US" sz="1700" dirty="0"/>
          </a:p>
          <a:p>
            <a:pPr marL="203200" indent="-203200">
              <a:spcAft>
                <a:spcPts val="600"/>
              </a:spcAft>
              <a:buSzPct val="100000"/>
              <a:buChar char="•"/>
            </a:pPr>
            <a:r>
              <a:rPr lang="en-US" sz="1700" dirty="0">
                <a:solidFill>
                  <a:schemeClr val="tx1"/>
                </a:solidFill>
              </a:rPr>
              <a:t>Keep the 8-tag jig. With it, a second camera adds little; without it, the second camera matters</a:t>
            </a:r>
            <a:endParaRPr lang="en-US" sz="1700" dirty="0"/>
          </a:p>
          <a:p>
            <a:pPr marL="203200" indent="-203200">
              <a:spcAft>
                <a:spcPts val="600"/>
              </a:spcAft>
              <a:buSzPct val="100000"/>
              <a:buChar char="•"/>
            </a:pPr>
            <a:r>
              <a:rPr lang="en-US" sz="1700" dirty="0">
                <a:solidFill>
                  <a:schemeClr val="tx1"/>
                </a:solidFill>
              </a:rPr>
              <a:t>Measure the printed tag size and recheck the focal length to remove the 0.5 % depth scale</a:t>
            </a:r>
            <a:endParaRPr lang="en-US" sz="1700" dirty="0"/>
          </a:p>
          <a:p>
            <a:pPr marL="203200" indent="-203200">
              <a:spcAft>
                <a:spcPts val="600"/>
              </a:spcAft>
              <a:buSzPct val="100000"/>
              <a:buChar char="•"/>
            </a:pPr>
            <a:r>
              <a:rPr lang="en-US" sz="1700" dirty="0">
                <a:solidFill>
                  <a:schemeClr val="tx1"/>
                </a:solidFill>
              </a:rPr>
              <a:t>Pin the camera–mocap timing (one LED seen by both) before quoting accuracy under motion</a:t>
            </a:r>
            <a:endParaRPr lang="en-US" sz="1700" dirty="0"/>
          </a:p>
          <a:p>
            <a:pPr marL="203200" indent="-203200">
              <a:spcAft>
                <a:spcPts val="600"/>
              </a:spcAft>
              <a:buSzPct val="100000"/>
              <a:buChar char="•"/>
            </a:pPr>
            <a:r>
              <a:rPr lang="en-US" sz="1700" dirty="0">
                <a:solidFill>
                  <a:schemeClr val="tx1"/>
                </a:solidFill>
              </a:rPr>
              <a:t>Quote held-out, scale-1 numbers rather than the in-sample 13-parameter fit</a:t>
            </a:r>
            <a:endParaRPr lang="en-US" sz="17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NOARK Validation">
  <a:themeElements>
    <a:clrScheme name="NOARK Validation">
      <a:dk1>
        <a:srgbClr val="1F2933"/>
      </a:dk1>
      <a:lt1>
        <a:srgbClr val="FFFFFF"/>
      </a:lt1>
      <a:dk2>
        <a:srgbClr val="14263B"/>
      </a:dk2>
      <a:lt2>
        <a:srgbClr val="EEF2F6"/>
      </a:lt2>
      <a:accent1>
        <a:srgbClr val="0072B2"/>
      </a:accent1>
      <a:accent2>
        <a:srgbClr val="D55E00"/>
      </a:accent2>
      <a:accent3>
        <a:srgbClr val="009E73"/>
      </a:accent3>
      <a:accent4>
        <a:srgbClr val="E69F00"/>
      </a:accent4>
      <a:accent5>
        <a:srgbClr val="6B7785"/>
      </a:accent5>
      <a:accent6>
        <a:srgbClr val="14263B"/>
      </a:accent6>
      <a:hlink>
        <a:srgbClr val="0072B2"/>
      </a:hlink>
      <a:folHlink>
        <a:srgbClr val="D55E00"/>
      </a:folHlink>
    </a:clrScheme>
    <a:fontScheme name="NOARK Valida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Diwakar validation: dual-camera tag jig vs mocap</dc:title>
  <dc:subject>PptxGenJS Presentation</dc:subject>
  <dc:creator>NOARK</dc:creator>
  <cp:lastModifiedBy>NOARK</cp:lastModifiedBy>
  <cp:revision>1</cp:revision>
  <dcterms:created xsi:type="dcterms:W3CDTF">2026-10-22T11:39:56Z</dcterms:created>
  <dcterms:modified xsi:type="dcterms:W3CDTF">2026-10-22T11:39:56Z</dcterms:modified>
</cp:coreProperties>
</file>