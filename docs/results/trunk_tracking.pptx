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D25EE0B-92EF-E47A-D511-8655CAABF4FC}">
          <p14:sldIdLst>
            <p14:sldId id="256"/>
            <p14:sldId id="257"/>
            <p14:sldId id="258"/>
            <p14:sldId id="259"/>
          </p14:sldIdLst>
        </p14:section>
        <p14:section name="Definitions" id="{1DD1B164-6720-3133-83DA-2584B787B154}">
          <p14:sldIdLst>
            <p14:sldId id="260"/>
            <p14:sldId id="261"/>
            <p14:sldId id="262"/>
          </p14:sldIdLst>
        </p14:section>
        <p14:section name="Stereo ICP" id="{1F87AF77-B5FF-62E1-BB7E-DB0DD176348C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SAM 3D Body" id="{2B6821BE-2F8A-AF56-7DF8-B042702F6413}">
          <p14:sldIdLst>
            <p14:sldId id="271"/>
            <p14:sldId id="272"/>
          </p14:sldIdLst>
        </p14:section>
        <p14:section name="Student" id="{631F30E6-3372-A7F4-F74D-0DBB207B2206}">
          <p14:sldIdLst>
            <p14:sldId id="273"/>
            <p14:sldId id="274"/>
            <p14:sldId id="275"/>
            <p14:sldId id="276"/>
          </p14:sldIdLst>
        </p14:section>
        <p14:section name="Synthetic humans" id="{DB9CB5DA-3AD3-FCD4-67B7-105DE963885D}">
          <p14:sldIdLst>
            <p14:sldId id="277"/>
            <p14:sldId id="278"/>
            <p14:sldId id="279"/>
          </p14:sldIdLst>
        </p14:section>
        <p14:section name="Protocol close-up" id="{AA6BE791-A137-43FB-E680-0A29E0710609}">
          <p14:sldIdLst>
            <p14:sldId id="280"/>
            <p14:sldId id="281"/>
            <p14:sldId id="282"/>
          </p14:sldIdLst>
        </p14:section>
        <p14:section name="Status" id="{0DDB98FA-6A26-E11F-232C-D48F4A7A7DCF}">
          <p14:sldIdLst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3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4263B"/>
                </a:solidFill>
                <a:latin typeface="+mn-lt"/>
              </a:rPr>
              <a:t>Frames with a trunk angle, per person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ICP, woc takes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F3C873"/>
              </a:solidFill>
              <a:ln w="9525" cap="flat">
                <a:solidFill>
                  <a:srgbClr val="F3C87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Arjun</c:v>
                </c:pt>
                <c:pt idx="1">
                  <c:v>Diwakar</c:v>
                </c:pt>
                <c:pt idx="2">
                  <c:v>Gokul</c:v>
                </c:pt>
                <c:pt idx="3">
                  <c:v>Jerome</c:v>
                </c:pt>
                <c:pt idx="4">
                  <c:v>JS</c:v>
                </c:pt>
                <c:pt idx="5">
                  <c:v>Lee</c:v>
                </c:pt>
                <c:pt idx="6">
                  <c:v>Ram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88</c:v>
                </c:pt>
                <c:pt idx="1">
                  <c:v>96.7</c:v>
                </c:pt>
                <c:pt idx="2">
                  <c:v>99.9</c:v>
                </c:pt>
                <c:pt idx="3">
                  <c:v>92.4</c:v>
                </c:pt>
                <c:pt idx="4">
                  <c:v>93.4</c:v>
                </c:pt>
                <c:pt idx="5">
                  <c:v>98.9</c:v>
                </c:pt>
                <c:pt idx="6">
                  <c:v>96.9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C3-451F-8BBA-25D54137E0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ICP, wc takes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D99A1E"/>
              </a:solidFill>
              <a:ln w="9525" cap="flat">
                <a:solidFill>
                  <a:srgbClr val="D99A1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Arjun</c:v>
                </c:pt>
                <c:pt idx="1">
                  <c:v>Diwakar</c:v>
                </c:pt>
                <c:pt idx="2">
                  <c:v>Gokul</c:v>
                </c:pt>
                <c:pt idx="3">
                  <c:v>Jerome</c:v>
                </c:pt>
                <c:pt idx="4">
                  <c:v>JS</c:v>
                </c:pt>
                <c:pt idx="5">
                  <c:v>Lee</c:v>
                </c:pt>
                <c:pt idx="6">
                  <c:v>Ram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87.6</c:v>
                </c:pt>
                <c:pt idx="1">
                  <c:v>85.4</c:v>
                </c:pt>
                <c:pt idx="2">
                  <c:v>99.9</c:v>
                </c:pt>
                <c:pt idx="3">
                  <c:v>97.3</c:v>
                </c:pt>
                <c:pt idx="4">
                  <c:v>88.4</c:v>
                </c:pt>
                <c:pt idx="5">
                  <c:v>92.4</c:v>
                </c:pt>
                <c:pt idx="6">
                  <c:v>90.7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C3-451F-8BBA-25D54137E0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ICP, game takes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8A4F00"/>
              </a:solidFill>
              <a:ln w="9525" cap="flat">
                <a:solidFill>
                  <a:srgbClr val="8A4F0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Arjun</c:v>
                </c:pt>
                <c:pt idx="1">
                  <c:v>Diwakar</c:v>
                </c:pt>
                <c:pt idx="2">
                  <c:v>Gokul</c:v>
                </c:pt>
                <c:pt idx="3">
                  <c:v>Jerome</c:v>
                </c:pt>
                <c:pt idx="4">
                  <c:v>JS</c:v>
                </c:pt>
                <c:pt idx="5">
                  <c:v>Lee</c:v>
                </c:pt>
                <c:pt idx="6">
                  <c:v>Ram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72.599999999999994</c:v>
                </c:pt>
                <c:pt idx="1">
                  <c:v>49.4</c:v>
                </c:pt>
                <c:pt idx="2">
                  <c:v>67.599999999999994</c:v>
                </c:pt>
                <c:pt idx="3">
                  <c:v>65.099999999999994</c:v>
                </c:pt>
                <c:pt idx="4">
                  <c:v>88.4</c:v>
                </c:pt>
                <c:pt idx="5">
                  <c:v>47.8</c:v>
                </c:pt>
                <c:pt idx="6">
                  <c:v>88.4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C3-451F-8BBA-25D54137E06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SAM 3D Body, game takes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Arjun</c:v>
                </c:pt>
                <c:pt idx="1">
                  <c:v>Diwakar</c:v>
                </c:pt>
                <c:pt idx="2">
                  <c:v>Gokul</c:v>
                </c:pt>
                <c:pt idx="3">
                  <c:v>Jerome</c:v>
                </c:pt>
                <c:pt idx="4">
                  <c:v>JS</c:v>
                </c:pt>
                <c:pt idx="5">
                  <c:v>Lee</c:v>
                </c:pt>
                <c:pt idx="6">
                  <c:v>Ram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99.6</c:v>
                </c:pt>
                <c:pt idx="3">
                  <c:v>100</c:v>
                </c:pt>
                <c:pt idx="4">
                  <c:v>99.9</c:v>
                </c:pt>
                <c:pt idx="5">
                  <c:v>99.2</c:v>
                </c:pt>
                <c:pt idx="6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4C3-451F-8BBA-25D54137E0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670"/>
                    </a:solidFill>
                    <a:latin typeface="+mn-lt"/>
                  </a:rPr>
                  <a:t>Person (Oct session)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670"/>
                    </a:solidFill>
                    <a:latin typeface="+mn-lt"/>
                  </a:rPr>
                  <a:t>Frames solved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3B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4263B"/>
                </a:solidFill>
                <a:latin typeface="+mn-lt"/>
              </a:rPr>
              <a:t>Median total-rotation error (°)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Stereo ICP</c:v>
                </c:pt>
              </c:strCache>
            </c:strRef>
          </c:tx>
          <c:spPr>
            <a:ln w="31750" cap="flat">
              <a:solidFill>
                <a:srgbClr val="E69F00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E69F00"/>
              </a:solidFill>
              <a:ln w="9525" cap="flat">
                <a:solidFill>
                  <a:srgbClr val="E69F00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200–400</c:v>
                </c:pt>
                <c:pt idx="1">
                  <c:v>400–600</c:v>
                </c:pt>
                <c:pt idx="2">
                  <c:v>600–800</c:v>
                </c:pt>
                <c:pt idx="3">
                  <c:v>800–1200</c:v>
                </c:pt>
                <c:pt idx="4">
                  <c:v>≥1200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6.2</c:v>
                </c:pt>
                <c:pt idx="1">
                  <c:v>7.6</c:v>
                </c:pt>
                <c:pt idx="2">
                  <c:v>3.6</c:v>
                </c:pt>
                <c:pt idx="3">
                  <c:v>1.7</c:v>
                </c:pt>
                <c:pt idx="4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EA-4522-900A-20310E7E02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 3D Body</c:v>
                </c:pt>
              </c:strCache>
            </c:strRef>
          </c:tx>
          <c:spPr>
            <a:ln w="31750" cap="flat">
              <a:solidFill>
                <a:srgbClr val="0072B2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0072B2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200–400</c:v>
                </c:pt>
                <c:pt idx="1">
                  <c:v>400–600</c:v>
                </c:pt>
                <c:pt idx="2">
                  <c:v>600–800</c:v>
                </c:pt>
                <c:pt idx="3">
                  <c:v>800–1200</c:v>
                </c:pt>
                <c:pt idx="4">
                  <c:v>≥1200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2.9</c:v>
                </c:pt>
                <c:pt idx="2">
                  <c:v>2.6</c:v>
                </c:pt>
                <c:pt idx="3">
                  <c:v>1</c:v>
                </c:pt>
                <c:pt idx="4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EA-4522-900A-20310E7E02C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670"/>
                    </a:solidFill>
                    <a:latin typeface="+mn-lt"/>
                  </a:rPr>
                  <a:t>Visible chest points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670"/>
                    </a:solidFill>
                    <a:latin typeface="+mn-lt"/>
                  </a:rPr>
                  <a:t>Median |error| (°)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3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4263B"/>
                </a:solidFill>
                <a:latin typeface="+mn-lt"/>
              </a:rPr>
              <a:t>Share of game frames in each bin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Game frames</c:v>
                </c:pt>
              </c:strCache>
            </c:strRef>
          </c:tx>
          <c:spPr>
            <a:ln w="31750" cap="flat">
              <a:solidFill>
                <a:srgbClr val="6B7785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6B7785"/>
              </a:solidFill>
              <a:ln w="9525" cap="flat">
                <a:solidFill>
                  <a:srgbClr val="6B7785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&lt;200</c:v>
                </c:pt>
                <c:pt idx="1">
                  <c:v>200–400</c:v>
                </c:pt>
                <c:pt idx="2">
                  <c:v>400–600</c:v>
                </c:pt>
                <c:pt idx="3">
                  <c:v>600–800</c:v>
                </c:pt>
                <c:pt idx="4">
                  <c:v>800–1200</c:v>
                </c:pt>
                <c:pt idx="5">
                  <c:v>≥1200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30.9</c:v>
                </c:pt>
                <c:pt idx="1">
                  <c:v>8.4</c:v>
                </c:pt>
                <c:pt idx="2">
                  <c:v>26.9</c:v>
                </c:pt>
                <c:pt idx="3">
                  <c:v>16.5</c:v>
                </c:pt>
                <c:pt idx="4">
                  <c:v>12.1</c:v>
                </c:pt>
                <c:pt idx="5">
                  <c:v>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52-43C8-B1CA-A5A0A1E9135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670"/>
                    </a:solidFill>
                    <a:latin typeface="+mn-lt"/>
                  </a:rPr>
                  <a:t>Visible chest points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670"/>
                    </a:solidFill>
                    <a:latin typeface="+mn-lt"/>
                  </a:rPr>
                  <a:t>Frames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3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4263B"/>
                </a:solidFill>
                <a:latin typeface="+mn-lt"/>
              </a:rPr>
              <a:t>Network time per frame (ms, log scale)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per frame (ms)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4"/>
            <c:spPr>
              <a:solidFill>
                <a:srgbClr val="7A1F5C"/>
              </a:solidFill>
              <a:ln w="9525" cap="flat">
                <a:solidFill>
                  <a:srgbClr val="7A1F5C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SAM 3D Body
RTX 4060 GPU</c:v>
                </c:pt>
                <c:pt idx="1">
                  <c:v>Student ResNet18
Q6A CPU FP32</c:v>
                </c:pt>
                <c:pt idx="2">
                  <c:v>Torso seg (ICP)
Q6A NPU</c:v>
                </c:pt>
                <c:pt idx="3">
                  <c:v>Student ResNet18
Q6A NPU W8A16</c:v>
                </c:pt>
                <c:pt idx="4">
                  <c:v>MobileNetV2
Q6A NPU W8A8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105</c:v>
                </c:pt>
                <c:pt idx="2">
                  <c:v>50</c:v>
                </c:pt>
                <c:pt idx="3">
                  <c:v>4.0999999999999996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C4-4801-98B9-3C72F1EDC080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15 frames/s budget (66.7 ms)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SAM 3D Body
RTX 4060 GPU</c:v>
                </c:pt>
                <c:pt idx="1">
                  <c:v>Student ResNet18
Q6A CPU FP32</c:v>
                </c:pt>
                <c:pt idx="2">
                  <c:v>Torso seg (ICP)
Q6A NPU</c:v>
                </c:pt>
                <c:pt idx="3">
                  <c:v>Student ResNet18
Q6A NPU W8A16</c:v>
                </c:pt>
                <c:pt idx="4">
                  <c:v>MobileNetV2
Q6A NPU W8A8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66.7</c:v>
                </c:pt>
                <c:pt idx="1">
                  <c:v>66.7</c:v>
                </c:pt>
                <c:pt idx="2">
                  <c:v>66.7</c:v>
                </c:pt>
                <c:pt idx="3">
                  <c:v>66.7</c:v>
                </c:pt>
                <c:pt idx="4">
                  <c:v>66.7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8C4-4801-98B9-3C72F1EDC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"/>
          <c:min val="1"/>
        </c:scaling>
        <c:delete val="0"/>
        <c:axPos val="l"/>
        <c:majorGridlines>
          <c:spPr>
            <a:ln w="9525" cap="flat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670"/>
                    </a:solidFill>
                    <a:latin typeface="+mn-lt"/>
                  </a:rPr>
                  <a:t>ms per frame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3B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4263B"/>
                </a:solidFill>
                <a:latin typeface="+mn-lt"/>
              </a:rPr>
              <a:t>Reading vs true flexion (°)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-17.5</c:v>
                </c:pt>
                <c:pt idx="1">
                  <c:v>-12.5</c:v>
                </c:pt>
                <c:pt idx="2">
                  <c:v>-7.5</c:v>
                </c:pt>
                <c:pt idx="3">
                  <c:v>-2.5</c:v>
                </c:pt>
                <c:pt idx="4">
                  <c:v>+2.5</c:v>
                </c:pt>
                <c:pt idx="5">
                  <c:v>+7.5</c:v>
                </c:pt>
                <c:pt idx="6">
                  <c:v>+12.5</c:v>
                </c:pt>
                <c:pt idx="7">
                  <c:v>+17.5</c:v>
                </c:pt>
                <c:pt idx="8">
                  <c:v>+22.5</c:v>
                </c:pt>
                <c:pt idx="9">
                  <c:v>+27.5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-17.5</c:v>
                </c:pt>
                <c:pt idx="1">
                  <c:v>-12.5</c:v>
                </c:pt>
                <c:pt idx="2">
                  <c:v>-7.5</c:v>
                </c:pt>
                <c:pt idx="3">
                  <c:v>-2.5</c:v>
                </c:pt>
                <c:pt idx="4">
                  <c:v>2.5</c:v>
                </c:pt>
                <c:pt idx="5">
                  <c:v>7.5</c:v>
                </c:pt>
                <c:pt idx="6">
                  <c:v>12.5</c:v>
                </c:pt>
                <c:pt idx="7">
                  <c:v>17.5</c:v>
                </c:pt>
                <c:pt idx="8">
                  <c:v>22.5</c:v>
                </c:pt>
                <c:pt idx="9">
                  <c:v>27.5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BD-44DB-B727-2376A589B5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Stereo ICP</c:v>
                </c:pt>
              </c:strCache>
            </c:strRef>
          </c:tx>
          <c:spPr>
            <a:ln w="28575" cap="flat">
              <a:solidFill>
                <a:srgbClr val="E69F0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072B2"/>
              </a:solidFill>
              <a:ln w="9525" cap="flat">
                <a:solidFill>
                  <a:srgbClr val="E69F0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-17.5</c:v>
                </c:pt>
                <c:pt idx="1">
                  <c:v>-12.5</c:v>
                </c:pt>
                <c:pt idx="2">
                  <c:v>-7.5</c:v>
                </c:pt>
                <c:pt idx="3">
                  <c:v>-2.5</c:v>
                </c:pt>
                <c:pt idx="4">
                  <c:v>+2.5</c:v>
                </c:pt>
                <c:pt idx="5">
                  <c:v>+7.5</c:v>
                </c:pt>
                <c:pt idx="6">
                  <c:v>+12.5</c:v>
                </c:pt>
                <c:pt idx="7">
                  <c:v>+17.5</c:v>
                </c:pt>
                <c:pt idx="8">
                  <c:v>+22.5</c:v>
                </c:pt>
                <c:pt idx="9">
                  <c:v>+27.5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-14.1</c:v>
                </c:pt>
                <c:pt idx="1">
                  <c:v>-9.6999999999999993</c:v>
                </c:pt>
                <c:pt idx="2">
                  <c:v>-5.8</c:v>
                </c:pt>
                <c:pt idx="3">
                  <c:v>-1.7</c:v>
                </c:pt>
                <c:pt idx="4">
                  <c:v>1.7</c:v>
                </c:pt>
                <c:pt idx="5">
                  <c:v>6.7</c:v>
                </c:pt>
                <c:pt idx="6">
                  <c:v>12.4</c:v>
                </c:pt>
                <c:pt idx="7">
                  <c:v>17.3</c:v>
                </c:pt>
                <c:pt idx="8">
                  <c:v>20.3</c:v>
                </c:pt>
                <c:pt idx="9">
                  <c:v>27.8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BD-44DB-B727-2376A589B5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SAM 3D Body</c:v>
                </c:pt>
              </c:strCache>
            </c:strRef>
          </c:tx>
          <c:spPr>
            <a:ln w="28575" cap="flat">
              <a:solidFill>
                <a:srgbClr val="0072B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C79A7"/>
              </a:solidFill>
              <a:ln w="9525" cap="flat">
                <a:solidFill>
                  <a:srgbClr val="0072B2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-17.5</c:v>
                </c:pt>
                <c:pt idx="1">
                  <c:v>-12.5</c:v>
                </c:pt>
                <c:pt idx="2">
                  <c:v>-7.5</c:v>
                </c:pt>
                <c:pt idx="3">
                  <c:v>-2.5</c:v>
                </c:pt>
                <c:pt idx="4">
                  <c:v>+2.5</c:v>
                </c:pt>
                <c:pt idx="5">
                  <c:v>+7.5</c:v>
                </c:pt>
                <c:pt idx="6">
                  <c:v>+12.5</c:v>
                </c:pt>
                <c:pt idx="7">
                  <c:v>+17.5</c:v>
                </c:pt>
                <c:pt idx="8">
                  <c:v>+22.5</c:v>
                </c:pt>
                <c:pt idx="9">
                  <c:v>+27.5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-15.2</c:v>
                </c:pt>
                <c:pt idx="1">
                  <c:v>-11.5</c:v>
                </c:pt>
                <c:pt idx="2">
                  <c:v>-5.6</c:v>
                </c:pt>
                <c:pt idx="3">
                  <c:v>-1</c:v>
                </c:pt>
                <c:pt idx="4">
                  <c:v>1.9</c:v>
                </c:pt>
                <c:pt idx="5">
                  <c:v>6</c:v>
                </c:pt>
                <c:pt idx="6">
                  <c:v>11.2</c:v>
                </c:pt>
                <c:pt idx="7">
                  <c:v>16.399999999999999</c:v>
                </c:pt>
                <c:pt idx="8">
                  <c:v>21</c:v>
                </c:pt>
                <c:pt idx="9">
                  <c:v>24.8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5BD-44DB-B727-2376A589B54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Student v2 (real only)</c:v>
                </c:pt>
              </c:strCache>
            </c:strRef>
          </c:tx>
          <c:spPr>
            <a:ln w="28575" cap="flat">
              <a:solidFill>
                <a:srgbClr val="CC79A7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7A1F5C"/>
              </a:solidFill>
              <a:ln w="9525" cap="flat">
                <a:solidFill>
                  <a:srgbClr val="CC79A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-17.5</c:v>
                </c:pt>
                <c:pt idx="1">
                  <c:v>-12.5</c:v>
                </c:pt>
                <c:pt idx="2">
                  <c:v>-7.5</c:v>
                </c:pt>
                <c:pt idx="3">
                  <c:v>-2.5</c:v>
                </c:pt>
                <c:pt idx="4">
                  <c:v>+2.5</c:v>
                </c:pt>
                <c:pt idx="5">
                  <c:v>+7.5</c:v>
                </c:pt>
                <c:pt idx="6">
                  <c:v>+12.5</c:v>
                </c:pt>
                <c:pt idx="7">
                  <c:v>+17.5</c:v>
                </c:pt>
                <c:pt idx="8">
                  <c:v>+22.5</c:v>
                </c:pt>
                <c:pt idx="9">
                  <c:v>+27.5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-13.9</c:v>
                </c:pt>
                <c:pt idx="1">
                  <c:v>-10.1</c:v>
                </c:pt>
                <c:pt idx="2">
                  <c:v>-5</c:v>
                </c:pt>
                <c:pt idx="3">
                  <c:v>-1.1000000000000001</c:v>
                </c:pt>
                <c:pt idx="4">
                  <c:v>0.5</c:v>
                </c:pt>
                <c:pt idx="5">
                  <c:v>3.7</c:v>
                </c:pt>
                <c:pt idx="6">
                  <c:v>7.6</c:v>
                </c:pt>
                <c:pt idx="7">
                  <c:v>12.8</c:v>
                </c:pt>
                <c:pt idx="8">
                  <c:v>17.899999999999999</c:v>
                </c:pt>
                <c:pt idx="9">
                  <c:v>23.9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5BD-44DB-B727-2376A589B54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Student v3 (+ synthetic)</c:v>
                </c:pt>
              </c:strCache>
            </c:strRef>
          </c:tx>
          <c:spPr>
            <a:ln w="28575" cap="flat">
              <a:solidFill>
                <a:srgbClr val="7A1F5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072B2"/>
              </a:solidFill>
              <a:ln w="9525" cap="flat">
                <a:solidFill>
                  <a:srgbClr val="7A1F5C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-17.5</c:v>
                </c:pt>
                <c:pt idx="1">
                  <c:v>-12.5</c:v>
                </c:pt>
                <c:pt idx="2">
                  <c:v>-7.5</c:v>
                </c:pt>
                <c:pt idx="3">
                  <c:v>-2.5</c:v>
                </c:pt>
                <c:pt idx="4">
                  <c:v>+2.5</c:v>
                </c:pt>
                <c:pt idx="5">
                  <c:v>+7.5</c:v>
                </c:pt>
                <c:pt idx="6">
                  <c:v>+12.5</c:v>
                </c:pt>
                <c:pt idx="7">
                  <c:v>+17.5</c:v>
                </c:pt>
                <c:pt idx="8">
                  <c:v>+22.5</c:v>
                </c:pt>
                <c:pt idx="9">
                  <c:v>+27.5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-15.9</c:v>
                </c:pt>
                <c:pt idx="1">
                  <c:v>-11</c:v>
                </c:pt>
                <c:pt idx="2">
                  <c:v>-5.4</c:v>
                </c:pt>
                <c:pt idx="3">
                  <c:v>-1.5</c:v>
                </c:pt>
                <c:pt idx="4">
                  <c:v>0.7</c:v>
                </c:pt>
                <c:pt idx="5">
                  <c:v>4.7</c:v>
                </c:pt>
                <c:pt idx="6">
                  <c:v>9</c:v>
                </c:pt>
                <c:pt idx="7">
                  <c:v>14</c:v>
                </c:pt>
                <c:pt idx="8">
                  <c:v>19.600000000000001</c:v>
                </c:pt>
                <c:pt idx="9">
                  <c:v>24.8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5BD-44DB-B727-2376A589B5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670"/>
                    </a:solidFill>
                    <a:latin typeface="+mn-lt"/>
                  </a:rPr>
                  <a:t>Mocap flexion, bin centre (°)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E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B6670"/>
                    </a:solidFill>
                    <a:latin typeface="+mn-lt"/>
                  </a:rPr>
                  <a:t>Method reading, bin median (°)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63B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4263B"/>
                </a:solidFill>
                <a:latin typeface="+mn-lt"/>
              </a:rPr>
              <a:t>Flexion (°)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</c:v>
                </c:pt>
              </c:strCache>
            </c:strRef>
          </c:tx>
          <c:spPr>
            <a:ln w="25400" cap="flat">
              <a:solidFill>
                <a:srgbClr val="7A1F5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7A1F5C"/>
              </a:solidFill>
              <a:ln w="9525" cap="flat">
                <a:solidFill>
                  <a:srgbClr val="7A1F5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2.5828927371885784</c:v>
                </c:pt>
                <c:pt idx="1">
                  <c:v>2.2113772804746024</c:v>
                </c:pt>
                <c:pt idx="2">
                  <c:v>1.942899530035433</c:v>
                </c:pt>
                <c:pt idx="3">
                  <c:v>1.9367426810084079</c:v>
                </c:pt>
                <c:pt idx="4">
                  <c:v>1.964252787219025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1D-4129-82F4-FC3E729CC7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SAM 3D Body</c:v>
                </c:pt>
              </c:strCache>
            </c:strRef>
          </c:tx>
          <c:spPr>
            <a:ln w="25400" cap="flat">
              <a:solidFill>
                <a:srgbClr val="0072B2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1.5587902548126369</c:v>
                </c:pt>
                <c:pt idx="1">
                  <c:v>1.5587902548126369</c:v>
                </c:pt>
                <c:pt idx="2">
                  <c:v>1.5587902548126369</c:v>
                </c:pt>
                <c:pt idx="3">
                  <c:v>1.5587902548126369</c:v>
                </c:pt>
                <c:pt idx="4">
                  <c:v>1.5587902548126369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1D-4129-82F4-FC3E729CC7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Stereo ICP</c:v>
                </c:pt>
              </c:strCache>
            </c:strRef>
          </c:tx>
          <c:spPr>
            <a:ln w="25400" cap="flat">
              <a:solidFill>
                <a:srgbClr val="E69F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1.5358775622949772</c:v>
                </c:pt>
                <c:pt idx="1">
                  <c:v>1.5358775622949772</c:v>
                </c:pt>
                <c:pt idx="2">
                  <c:v>1.5358775622949772</c:v>
                </c:pt>
                <c:pt idx="3">
                  <c:v>1.5358775622949772</c:v>
                </c:pt>
                <c:pt idx="4">
                  <c:v>1.5358775622949772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1D-4129-82F4-FC3E729CC7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1"/>
        </c:scaling>
        <c:delete val="0"/>
        <c:axPos val="l"/>
        <c:majorGridlines>
          <c:spPr>
            <a:ln w="9525" cap="flat">
              <a:solidFill>
                <a:srgbClr val="D9DE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63B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4263B"/>
                </a:solidFill>
                <a:latin typeface="+mn-lt"/>
              </a:rPr>
              <a:t>Lateral bend (°)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</c:v>
                </c:pt>
              </c:strCache>
            </c:strRef>
          </c:tx>
          <c:spPr>
            <a:ln w="25400" cap="flat">
              <a:solidFill>
                <a:srgbClr val="7A1F5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7A1F5C"/>
              </a:solidFill>
              <a:ln w="9525" cap="flat">
                <a:solidFill>
                  <a:srgbClr val="7A1F5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2.252961794571116</c:v>
                </c:pt>
                <c:pt idx="1">
                  <c:v>2.7474304753670178</c:v>
                </c:pt>
                <c:pt idx="2">
                  <c:v>2.2561927698245339</c:v>
                </c:pt>
                <c:pt idx="3">
                  <c:v>2.2808286937570794</c:v>
                </c:pt>
                <c:pt idx="4">
                  <c:v>2.4354861054526462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0D-4EE3-9C5A-C783B39E33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SAM 3D Body</c:v>
                </c:pt>
              </c:strCache>
            </c:strRef>
          </c:tx>
          <c:spPr>
            <a:ln w="25400" cap="flat">
              <a:solidFill>
                <a:srgbClr val="0072B2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2.3329702459872776</c:v>
                </c:pt>
                <c:pt idx="1">
                  <c:v>2.3329702459872776</c:v>
                </c:pt>
                <c:pt idx="2">
                  <c:v>2.3329702459872776</c:v>
                </c:pt>
                <c:pt idx="3">
                  <c:v>2.3329702459872776</c:v>
                </c:pt>
                <c:pt idx="4">
                  <c:v>2.3329702459872776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0D-4EE3-9C5A-C783B39E33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Stereo ICP</c:v>
                </c:pt>
              </c:strCache>
            </c:strRef>
          </c:tx>
          <c:spPr>
            <a:ln w="25400" cap="flat">
              <a:solidFill>
                <a:srgbClr val="E69F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2.6593663081022707</c:v>
                </c:pt>
                <c:pt idx="1">
                  <c:v>2.6593663081022707</c:v>
                </c:pt>
                <c:pt idx="2">
                  <c:v>2.6593663081022707</c:v>
                </c:pt>
                <c:pt idx="3">
                  <c:v>2.6593663081022707</c:v>
                </c:pt>
                <c:pt idx="4">
                  <c:v>2.6593663081022707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0D-4EE3-9C5A-C783B39E33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1"/>
        </c:scaling>
        <c:delete val="0"/>
        <c:axPos val="l"/>
        <c:majorGridlines>
          <c:spPr>
            <a:ln w="9525" cap="flat">
              <a:solidFill>
                <a:srgbClr val="D9DE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63B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4263B"/>
                </a:solidFill>
                <a:latin typeface="+mn-lt"/>
              </a:rPr>
              <a:t>Axial rotation (°)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</c:v>
                </c:pt>
              </c:strCache>
            </c:strRef>
          </c:tx>
          <c:spPr>
            <a:ln w="25400" cap="flat">
              <a:solidFill>
                <a:srgbClr val="7A1F5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7A1F5C"/>
              </a:solidFill>
              <a:ln w="9525" cap="flat">
                <a:solidFill>
                  <a:srgbClr val="7A1F5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2.8390304544314735</c:v>
                </c:pt>
                <c:pt idx="1">
                  <c:v>2.3451493911904433</c:v>
                </c:pt>
                <c:pt idx="2">
                  <c:v>2.3685497191105438</c:v>
                </c:pt>
                <c:pt idx="3">
                  <c:v>2.2801415260873465</c:v>
                </c:pt>
                <c:pt idx="4">
                  <c:v>2.4209721983613801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8A-4632-AD53-4181EBF71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SAM 3D Body</c:v>
                </c:pt>
              </c:strCache>
            </c:strRef>
          </c:tx>
          <c:spPr>
            <a:ln w="25400" cap="flat">
              <a:solidFill>
                <a:srgbClr val="0072B2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2.1524009091782705</c:v>
                </c:pt>
                <c:pt idx="1">
                  <c:v>2.1524009091782705</c:v>
                </c:pt>
                <c:pt idx="2">
                  <c:v>2.1524009091782705</c:v>
                </c:pt>
                <c:pt idx="3">
                  <c:v>2.1524009091782705</c:v>
                </c:pt>
                <c:pt idx="4">
                  <c:v>2.1524009091782705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8A-4632-AD53-4181EBF71A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Stereo ICP</c:v>
                </c:pt>
              </c:strCache>
            </c:strRef>
          </c:tx>
          <c:spPr>
            <a:ln w="25400" cap="flat">
              <a:solidFill>
                <a:srgbClr val="E69F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2.005717556353479</c:v>
                </c:pt>
                <c:pt idx="1">
                  <c:v>2.005717556353479</c:v>
                </c:pt>
                <c:pt idx="2">
                  <c:v>2.005717556353479</c:v>
                </c:pt>
                <c:pt idx="3">
                  <c:v>2.005717556353479</c:v>
                </c:pt>
                <c:pt idx="4">
                  <c:v>2.005717556353479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8A-4632-AD53-4181EBF71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1"/>
        </c:scaling>
        <c:delete val="0"/>
        <c:axPos val="l"/>
        <c:majorGridlines>
          <c:spPr>
            <a:ln w="9525" cap="flat">
              <a:solidFill>
                <a:srgbClr val="D9DE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63B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14263B"/>
                </a:solidFill>
                <a:latin typeface="+mn-lt"/>
              </a:rPr>
              <a:t>Total rotation (°)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</c:v>
                </c:pt>
              </c:strCache>
            </c:strRef>
          </c:tx>
          <c:spPr>
            <a:ln w="25400" cap="flat">
              <a:solidFill>
                <a:srgbClr val="7A1F5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7A1F5C"/>
              </a:solidFill>
              <a:ln w="9525" cap="flat">
                <a:solidFill>
                  <a:srgbClr val="7A1F5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2.8484919687474068</c:v>
                </c:pt>
                <c:pt idx="1">
                  <c:v>2.7636595069597796</c:v>
                </c:pt>
                <c:pt idx="2">
                  <c:v>2.6654796503146634</c:v>
                </c:pt>
                <c:pt idx="3">
                  <c:v>2.4860262846800807</c:v>
                </c:pt>
                <c:pt idx="4">
                  <c:v>2.6564877358114027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31-4FD9-97A8-415E52E34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SAM 3D Body</c:v>
                </c:pt>
              </c:strCache>
            </c:strRef>
          </c:tx>
          <c:spPr>
            <a:ln w="25400" cap="flat">
              <a:solidFill>
                <a:srgbClr val="0072B2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2.1387985247158769</c:v>
                </c:pt>
                <c:pt idx="1">
                  <c:v>2.1387985247158769</c:v>
                </c:pt>
                <c:pt idx="2">
                  <c:v>2.1387985247158769</c:v>
                </c:pt>
                <c:pt idx="3">
                  <c:v>2.1387985247158769</c:v>
                </c:pt>
                <c:pt idx="4">
                  <c:v>2.1387985247158769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31-4FD9-97A8-415E52E34C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Stereo ICP</c:v>
                </c:pt>
              </c:strCache>
            </c:strRef>
          </c:tx>
          <c:spPr>
            <a:ln w="25400" cap="flat">
              <a:solidFill>
                <a:srgbClr val="E69F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v2 real only</c:v>
                </c:pt>
                <c:pt idx="1">
                  <c:v>v3 + synthetic</c:v>
                </c:pt>
                <c:pt idx="2">
                  <c:v>v3 synth 40 %</c:v>
                </c:pt>
                <c:pt idx="3">
                  <c:v>v3 rerun</c:v>
                </c:pt>
                <c:pt idx="4">
                  <c:v>v4 flex-balanced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1.8940996650884923</c:v>
                </c:pt>
                <c:pt idx="1">
                  <c:v>1.8940996650884923</c:v>
                </c:pt>
                <c:pt idx="2">
                  <c:v>1.8940996650884923</c:v>
                </c:pt>
                <c:pt idx="3">
                  <c:v>1.8940996650884923</c:v>
                </c:pt>
                <c:pt idx="4">
                  <c:v>1.8940996650884923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F31-4FD9-97A8-415E52E34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1"/>
        </c:scaling>
        <c:delete val="0"/>
        <c:axPos val="l"/>
        <c:majorGridlines>
          <c:spPr>
            <a:ln w="9525" cap="flat">
              <a:solidFill>
                <a:srgbClr val="D9DE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95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in this deck is an angle in degrees, compared against Motive mocap of a sternum rigid body. Total rotation needs no axis alignment, so it is the cleanest single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camera, rotated upright, 3x speed, no tracking overlay (28_take_video.py). Protocol takes are about 1 min, game takes about 5 min (about 100 s at 3x). The oct game recording holds two takes: game (pulse 1, no trunk compensation) and game_wtc (pulse 2, with trunk compensation). Click a video to play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Units are kept apart: parameters in millions, speed in milliseconds per frame on named hardware, coverage in percent of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Lee (never-seen person), woc take, SAM 3D Body vs mocap. theta is the axis-angle size of the rotation from the start pose: theta = arccos((trace(R(t) R0^T) - 1) / 2). Code: 07_icp_trunk.compare_mocap (mag_i, mag_m).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06_trunk_axis.trunk_angles. Planar projection angles in the neutral trunk axes, not an Euler sequence. The neutral axes come from the stereo geometry and are the same for every method; what differs is the rotation being split: ICP's chest registration, or the c_spine3 joint for SAM 3D Body and the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 and teleport split: 07_icp_trunk.compare_mocap. Smoothing: 06_trunk_axis.smooth_series (SAVGOL_WINDOW 11, SAVGOL_POLY 3). Statistics: deck_figs.py in the deck generator.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seven people recorded on the same day. Protocol = woc + wc takes. Game = the game take with trunk compensation. ICP is scored only on frames it solved, so the game boxes flatter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solved = in-window frames where ICP returned a pose. SAM 3D Body returns a pose on 99-100 % of frames in every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 23 game takes, 5 people. Chest points = size of the visible torso surface after removing arms. Both methods scored on the same frames in each bin. ICP cannot run below 200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Sep 23 game take. Each method is compared with mocap split into the three angles using that method's own camera-to-mocap orientation, fitted on the person's woc protocol take and applied to the game take. Fitted on the game take itself (what 21/15 do) it is poorly constrained: the two halves of the take give fits 13-14 degrees apart, and the teacher's game fit for Gokul is 32 degrees from its woc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Sep 23 game take. Each method is compared with mocap split into the three angles using that method's own camera-to-mocap orientation, fitted on the person's woc protocol take and applied to the game take. Fitted on the game take itself (what 21/15 do) it is poorly constrained: the two halves of the take give fits 13-14 degrees apart, and the teacher's game fit for Gokul is 32 degrees from its woc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 23 game takes, reference camera rotated upright, cut to the mocap window (GPIO pulse), 3x speed (render_sep23_game.py). Same takes as the two trace slides before. Click a video to play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undistorted camera frames. Bottom: front view of the chest surface ICP registered (orange) over the neutral chest (grey), camera coordinates in metres. Angles are total rotation from the start 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and accuracy kept in separate columns. Numbers from the Sep 23 game takes unless noted.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Shown on Lee (never-seen person), woc take. The model explains the arms rather than masking them out, so it answers on every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 23 game takes. Total rotation needs no axis fit. ICP scored on the frames it solved (50-72 %), SAM 3D Body on all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scale. Hardware differs per point and is named in the label. The 66.7 ms line is the per-frame budget for 15 frames/s.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v1 was trained on the Sep 23 woc and game takes only. Scored here on the wc takes of the three never-seen people, on frames ICP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Seen = the four people in the training set (their Oct protocol takes were training data). Unseen = the three test people. Teacher shown on the same frames for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Unseen people, protocol takes, frames ICP solved. Frames grouped in 5 degree bins of mocap flexion; each line is the median reading in the bin. The dashed grey line is a perfect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Blender + MPFB2 (MakeHuman, CC0 assets). Poses come only from the training people, so no test-person pose leaks into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panel: rendered truth vs teacher reading, relative to each person's mean pose. Gain = least-squares slope through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over the 6 unseen protocol takes of each take's median error vs mocap, frames ICP solved. 'Rerun' is the same recipe trained again. wc takes split with each method's woc-take orientation.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Lee's woc take, 7–27 s of 56 s, picked as the 20 s where all three angles move most. Student v3 = r18_v3mix_all, which never saw Lee. Each method is compared with mocap in its own camera-to-mocap orientation, fitted on this take. Whole-take median |error| flexion / lateral / axial: ICP 1.0 / 2.9 / 0.9°, SAM 3D Body 1.8 / 2.0 / 1.1°, student 2.2 / 1.6 / 2.2°; ICP solves 99 % of the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Arjun's woc take, 10–30 s of 51 s, picked as the 20 s where all three angles move most. Student v3 = r18_v3mix_all, which never saw Arjun. Each method is compared with mocap in its own camera-to-mocap orientation, fitted on this take. Whole-take median |error| flexion / lateral / axial: ICP 0.8 / 1.5 / 0.8°, SAM 3D Body 1.2 / 2.5 / 2.5°, student 1.1 / 2.5 / 2.4°; ICP solves 88 % of the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Jerome's woc take, 17–37 s of 54 s, picked as the 20 s where all three angles move most. Student v3 = r18_v3mix_all, which never saw Jerome. Each method is compared with mocap in its own camera-to-mocap orientation, fitted on this take. Whole-take median |error| flexion / lateral / axial: ICP 1.2 / 1.4 / 1.4°, SAM 3D Body 1.5 / 0.5 / 1.5°, student 1.7 / 1.1 / 1.2°; ICP solves 92 % of the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Never-seen people (Arjun, Jerome, Lee), woc + wc takes, frames ICP solved (about 90 % of frames).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Never-seen people, game take with trunk compensation, every frame each method solved. ICP boxes leave out the frames it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C9D4E3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NOARK trunk tracking · ICP vs SAM 3D Body vs student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3" Type="http://schemas.microsoft.com/office/2007/relationships/media" Target="../media/media7.mp4"/><Relationship Id="rId18" Type="http://schemas.openxmlformats.org/officeDocument/2006/relationships/video" Target="../media/media9.mp4"/><Relationship Id="rId26" Type="http://schemas.openxmlformats.org/officeDocument/2006/relationships/notesSlide" Target="../notesSlides/notesSlide3.xml"/><Relationship Id="rId21" Type="http://schemas.microsoft.com/office/2007/relationships/media" Target="../media/media11.mp4"/><Relationship Id="rId34" Type="http://schemas.openxmlformats.org/officeDocument/2006/relationships/image" Target="../media/image8.png"/><Relationship Id="rId7" Type="http://schemas.microsoft.com/office/2007/relationships/media" Target="../media/media4.mp4"/><Relationship Id="rId12" Type="http://schemas.openxmlformats.org/officeDocument/2006/relationships/video" Target="../media/media6.mp4"/><Relationship Id="rId17" Type="http://schemas.microsoft.com/office/2007/relationships/media" Target="../media/media9.mp4"/><Relationship Id="rId25" Type="http://schemas.openxmlformats.org/officeDocument/2006/relationships/slideLayout" Target="../slideLayouts/slideLayout3.xml"/><Relationship Id="rId33" Type="http://schemas.openxmlformats.org/officeDocument/2006/relationships/image" Target="../media/image7.png"/><Relationship Id="rId38" Type="http://schemas.openxmlformats.org/officeDocument/2006/relationships/image" Target="../media/image12.png"/><Relationship Id="rId2" Type="http://schemas.openxmlformats.org/officeDocument/2006/relationships/video" Target="../media/media1.mp4"/><Relationship Id="rId16" Type="http://schemas.openxmlformats.org/officeDocument/2006/relationships/video" Target="../media/media8.mp4"/><Relationship Id="rId20" Type="http://schemas.openxmlformats.org/officeDocument/2006/relationships/video" Target="../media/media10.mp4"/><Relationship Id="rId29" Type="http://schemas.openxmlformats.org/officeDocument/2006/relationships/image" Target="../media/image3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microsoft.com/office/2007/relationships/media" Target="../media/media6.mp4"/><Relationship Id="rId24" Type="http://schemas.openxmlformats.org/officeDocument/2006/relationships/video" Target="../media/media12.mp4"/><Relationship Id="rId32" Type="http://schemas.openxmlformats.org/officeDocument/2006/relationships/image" Target="../media/image6.png"/><Relationship Id="rId37" Type="http://schemas.openxmlformats.org/officeDocument/2006/relationships/image" Target="../media/image11.png"/><Relationship Id="rId5" Type="http://schemas.microsoft.com/office/2007/relationships/media" Target="../media/media3.mp4"/><Relationship Id="rId15" Type="http://schemas.microsoft.com/office/2007/relationships/media" Target="../media/media8.mp4"/><Relationship Id="rId23" Type="http://schemas.microsoft.com/office/2007/relationships/media" Target="../media/media12.mp4"/><Relationship Id="rId28" Type="http://schemas.openxmlformats.org/officeDocument/2006/relationships/image" Target="../media/image2.png"/><Relationship Id="rId36" Type="http://schemas.openxmlformats.org/officeDocument/2006/relationships/image" Target="../media/image10.png"/><Relationship Id="rId10" Type="http://schemas.openxmlformats.org/officeDocument/2006/relationships/video" Target="../media/media5.mp4"/><Relationship Id="rId19" Type="http://schemas.microsoft.com/office/2007/relationships/media" Target="../media/media10.mp4"/><Relationship Id="rId31" Type="http://schemas.openxmlformats.org/officeDocument/2006/relationships/image" Target="../media/image5.png"/><Relationship Id="rId4" Type="http://schemas.openxmlformats.org/officeDocument/2006/relationships/video" Target="../media/media2.mp4"/><Relationship Id="rId9" Type="http://schemas.microsoft.com/office/2007/relationships/media" Target="../media/media5.mp4"/><Relationship Id="rId14" Type="http://schemas.openxmlformats.org/officeDocument/2006/relationships/video" Target="../media/media7.mp4"/><Relationship Id="rId22" Type="http://schemas.openxmlformats.org/officeDocument/2006/relationships/video" Target="../media/media11.mp4"/><Relationship Id="rId27" Type="http://schemas.openxmlformats.org/officeDocument/2006/relationships/image" Target="../media/image1.png"/><Relationship Id="rId30" Type="http://schemas.openxmlformats.org/officeDocument/2006/relationships/image" Target="../media/image4.png"/><Relationship Id="rId35" Type="http://schemas.openxmlformats.org/officeDocument/2006/relationships/image" Target="../media/image9.png"/><Relationship Id="rId8" Type="http://schemas.openxmlformats.org/officeDocument/2006/relationships/video" Target="../media/media4.mp4"/><Relationship Id="rId3" Type="http://schemas.microsoft.com/office/2007/relationships/media" Target="../media/media2.mp4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media" Target="../media/media14.mp4"/><Relationship Id="rId7" Type="http://schemas.openxmlformats.org/officeDocument/2006/relationships/image" Target="../media/image18.png"/><Relationship Id="rId2" Type="http://schemas.openxmlformats.org/officeDocument/2006/relationships/video" Target="../media/media13.mp4"/><Relationship Id="rId1" Type="http://schemas.microsoft.com/office/2007/relationships/media" Target="../media/media13.mp4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3.xml"/><Relationship Id="rId4" Type="http://schemas.openxmlformats.org/officeDocument/2006/relationships/video" Target="../media/media14.mp4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Trunk Tracking on NOARK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4E3"/>
                </a:solidFill>
              </a:rPr>
              <a:t>Stereo ICP vs SAM 3D Body vs a distilled student: why ICP fails in the game, why the student overfit, and why we render synthetic humans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measure</a:t>
            </a:r>
            <a:endParaRPr lang="en-US" sz="3000" dirty="0"/>
          </a:p>
        </p:txBody>
      </p:sp>
      <p:sp>
        <p:nvSpPr>
          <p:cNvPr id="4" name="points panel"/>
          <p:cNvSpPr/>
          <p:nvPr/>
        </p:nvSpPr>
        <p:spPr>
          <a:xfrm>
            <a:off x="548640" y="1234440"/>
            <a:ext cx="5669280" cy="50292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points"/>
          <p:cNvSpPr txBox="1"/>
          <p:nvPr/>
        </p:nvSpPr>
        <p:spPr>
          <a:xfrm>
            <a:off x="749808" y="1435608"/>
            <a:ext cx="52669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stereo camera (Radxa, 2 × fisheye) on the table, facing the seated person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Truth: Motive rigid body on the sternum, GPIO-synced to the camera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Takes per person</a:t>
            </a:r>
            <a:endParaRPr lang="en-US" sz="18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woc: instructed trunk sweeps, no compensation</a:t>
            </a:r>
            <a:endParaRPr lang="en-US" sz="18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wc: reaching with trunk compensation</a:t>
            </a:r>
            <a:endParaRPr lang="en-US" sz="18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game: RandomReach with the robot cube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8 people: 5 used for training, 3 never seen (Arjun, Jerome, Lee)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Target: Radxa Dragon Q6A, ≥ 10–15 frames/s, no extra setup</a:t>
            </a:r>
            <a:endParaRPr lang="en-US" sz="1800" dirty="0"/>
          </a:p>
        </p:txBody>
      </p:sp>
      <p:sp>
        <p:nvSpPr>
          <p:cNvPr id="6" name="Flexion card"/>
          <p:cNvSpPr/>
          <p:nvPr/>
        </p:nvSpPr>
        <p:spPr>
          <a:xfrm>
            <a:off x="6492240" y="1234440"/>
            <a:ext cx="512064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Flexion dot"/>
          <p:cNvSpPr/>
          <p:nvPr/>
        </p:nvSpPr>
        <p:spPr>
          <a:xfrm>
            <a:off x="6675120" y="156362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67512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F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1325880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Flexion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Lean forward / back</a:t>
            </a:r>
            <a:endParaRPr lang="en-US" sz="1800" dirty="0"/>
          </a:p>
        </p:txBody>
      </p:sp>
      <p:sp>
        <p:nvSpPr>
          <p:cNvPr id="10" name="Lateral bend card"/>
          <p:cNvSpPr/>
          <p:nvPr/>
        </p:nvSpPr>
        <p:spPr>
          <a:xfrm>
            <a:off x="6492240" y="2514600"/>
            <a:ext cx="512064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Lateral bend dot"/>
          <p:cNvSpPr/>
          <p:nvPr/>
        </p:nvSpPr>
        <p:spPr>
          <a:xfrm>
            <a:off x="6675120" y="284378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67512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606040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Lateral bend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Lean to the side</a:t>
            </a:r>
            <a:endParaRPr lang="en-US" sz="1800" dirty="0"/>
          </a:p>
        </p:txBody>
      </p:sp>
      <p:sp>
        <p:nvSpPr>
          <p:cNvPr id="14" name="Axial rotation card"/>
          <p:cNvSpPr/>
          <p:nvPr/>
        </p:nvSpPr>
        <p:spPr>
          <a:xfrm>
            <a:off x="6492240" y="3794760"/>
            <a:ext cx="512064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Axial rotation dot"/>
          <p:cNvSpPr/>
          <p:nvPr/>
        </p:nvSpPr>
        <p:spPr>
          <a:xfrm>
            <a:off x="6675120" y="412394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667512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3886200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Axial rotation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Twist about the spine</a:t>
            </a:r>
            <a:endParaRPr lang="en-US" sz="1800" dirty="0"/>
          </a:p>
        </p:txBody>
      </p:sp>
      <p:sp>
        <p:nvSpPr>
          <p:cNvPr id="18" name="Total rotation card"/>
          <p:cNvSpPr/>
          <p:nvPr/>
        </p:nvSpPr>
        <p:spPr>
          <a:xfrm>
            <a:off x="6492240" y="5074920"/>
            <a:ext cx="5120640" cy="1115568"/>
          </a:xfrm>
          <a:prstGeom prst="roundRect">
            <a:avLst>
              <a:gd name="adj" fmla="val 98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otal rotation dot"/>
          <p:cNvSpPr/>
          <p:nvPr/>
        </p:nvSpPr>
        <p:spPr>
          <a:xfrm>
            <a:off x="6675120" y="54041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667512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5166360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Total rotation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Angle of the single rotation from the start pose; needs no camera-to-mocap axis fit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the takes look like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1115568"/>
            <a:ext cx="2491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woc</a:t>
            </a:r>
            <a:r>
              <a:rPr lang="en-US" sz="1400" dirty="0">
                <a:solidFill>
                  <a:schemeClr val="accent5"/>
                </a:solidFill>
              </a:rPr>
              <a:t>  trunk sweeps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954780" y="1115568"/>
            <a:ext cx="2491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wc</a:t>
            </a:r>
            <a:r>
              <a:rPr lang="en-US" sz="1400" dirty="0">
                <a:solidFill>
                  <a:schemeClr val="accent5"/>
                </a:solidFill>
              </a:rPr>
              <a:t>  reaching, compensating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37960" y="1115568"/>
            <a:ext cx="2491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game</a:t>
            </a:r>
            <a:r>
              <a:rPr lang="en-US" sz="1400" dirty="0">
                <a:solidFill>
                  <a:schemeClr val="accent5"/>
                </a:solidFill>
              </a:rPr>
              <a:t>  no compensation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21140" y="1115568"/>
            <a:ext cx="2491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game_wtc</a:t>
            </a:r>
            <a:r>
              <a:rPr lang="en-US" sz="1400" dirty="0">
                <a:solidFill>
                  <a:schemeClr val="accent5"/>
                </a:solidFill>
              </a:rPr>
              <a:t>  with compensation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81328"/>
            <a:ext cx="731520" cy="155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Arjun</a:t>
            </a:r>
            <a:endParaRPr lang="en-US" sz="1600" dirty="0"/>
          </a:p>
        </p:txBody>
      </p:sp>
      <p:pic>
        <p:nvPicPr>
          <p:cNvPr id="3" name="arjun_woc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1371600" y="1481328"/>
            <a:ext cx="2491740" cy="1557337"/>
          </a:xfrm>
          <a:prstGeom prst="rect">
            <a:avLst/>
          </a:prstGeom>
        </p:spPr>
      </p:pic>
      <p:pic>
        <p:nvPicPr>
          <p:cNvPr id="10" name="arjun_wc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3954780" y="1481328"/>
            <a:ext cx="2491740" cy="1557337"/>
          </a:xfrm>
          <a:prstGeom prst="rect">
            <a:avLst/>
          </a:prstGeom>
        </p:spPr>
      </p:pic>
      <p:pic>
        <p:nvPicPr>
          <p:cNvPr id="9" name="arjun_game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9"/>
          <a:stretch>
            <a:fillRect/>
          </a:stretch>
        </p:blipFill>
        <p:spPr>
          <a:xfrm>
            <a:off x="6537960" y="1481328"/>
            <a:ext cx="2491740" cy="1557337"/>
          </a:xfrm>
          <a:prstGeom prst="rect">
            <a:avLst/>
          </a:prstGeom>
        </p:spPr>
      </p:pic>
      <p:pic>
        <p:nvPicPr>
          <p:cNvPr id="12" name="arjun_game_wtc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30"/>
          <a:stretch>
            <a:fillRect/>
          </a:stretch>
        </p:blipFill>
        <p:spPr>
          <a:xfrm>
            <a:off x="9121140" y="1481328"/>
            <a:ext cx="2491740" cy="1557337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48640" y="3130106"/>
            <a:ext cx="731520" cy="155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Jerome</a:t>
            </a:r>
            <a:endParaRPr lang="en-US" sz="1600" dirty="0"/>
          </a:p>
        </p:txBody>
      </p:sp>
      <p:pic>
        <p:nvPicPr>
          <p:cNvPr id="15" name="jerome_woc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1371600" y="3130106"/>
            <a:ext cx="2491740" cy="1557337"/>
          </a:xfrm>
          <a:prstGeom prst="rect">
            <a:avLst/>
          </a:prstGeom>
        </p:spPr>
      </p:pic>
      <p:pic>
        <p:nvPicPr>
          <p:cNvPr id="18" name="jerome_wc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32"/>
          <a:stretch>
            <a:fillRect/>
          </a:stretch>
        </p:blipFill>
        <p:spPr>
          <a:xfrm>
            <a:off x="3954780" y="3130106"/>
            <a:ext cx="2491740" cy="1557337"/>
          </a:xfrm>
          <a:prstGeom prst="rect">
            <a:avLst/>
          </a:prstGeom>
        </p:spPr>
      </p:pic>
      <p:pic>
        <p:nvPicPr>
          <p:cNvPr id="21" name="jerome_game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33"/>
          <a:stretch>
            <a:fillRect/>
          </a:stretch>
        </p:blipFill>
        <p:spPr>
          <a:xfrm>
            <a:off x="6537960" y="3130106"/>
            <a:ext cx="2491740" cy="1557337"/>
          </a:xfrm>
          <a:prstGeom prst="rect">
            <a:avLst/>
          </a:prstGeom>
        </p:spPr>
      </p:pic>
      <p:pic>
        <p:nvPicPr>
          <p:cNvPr id="24" name="jerome_game_wtc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34"/>
          <a:stretch>
            <a:fillRect/>
          </a:stretch>
        </p:blipFill>
        <p:spPr>
          <a:xfrm>
            <a:off x="9121140" y="3130106"/>
            <a:ext cx="2491740" cy="15573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778883"/>
            <a:ext cx="731520" cy="155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Lee</a:t>
            </a:r>
            <a:endParaRPr lang="en-US" sz="1600" dirty="0"/>
          </a:p>
        </p:txBody>
      </p:sp>
      <p:pic>
        <p:nvPicPr>
          <p:cNvPr id="27" name="lee_woc">
            <a:hlinkClick r:id="" action="ppaction://media"/>
          </p:cNvPr>
          <p:cNvPicPr>
            <a:picLocks noChangeAspect="1"/>
          </p:cNvPicPr>
          <p:nvPr>
            <a:vide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35"/>
          <a:stretch>
            <a:fillRect/>
          </a:stretch>
        </p:blipFill>
        <p:spPr>
          <a:xfrm>
            <a:off x="1371600" y="4778883"/>
            <a:ext cx="2491740" cy="1557337"/>
          </a:xfrm>
          <a:prstGeom prst="rect">
            <a:avLst/>
          </a:prstGeom>
        </p:spPr>
      </p:pic>
      <p:pic>
        <p:nvPicPr>
          <p:cNvPr id="30" name="lee_wc">
            <a:hlinkClick r:id="" action="ppaction://media"/>
          </p:cNvPr>
          <p:cNvPicPr>
            <a:picLocks noChangeAspect="1"/>
          </p:cNvPicPr>
          <p:nvPr>
            <a:videoFile r:link="rId20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36"/>
          <a:stretch>
            <a:fillRect/>
          </a:stretch>
        </p:blipFill>
        <p:spPr>
          <a:xfrm>
            <a:off x="3954780" y="4778883"/>
            <a:ext cx="2491740" cy="1557337"/>
          </a:xfrm>
          <a:prstGeom prst="rect">
            <a:avLst/>
          </a:prstGeom>
        </p:spPr>
      </p:pic>
      <p:pic>
        <p:nvPicPr>
          <p:cNvPr id="33" name="lee_game">
            <a:hlinkClick r:id="" action="ppaction://media"/>
          </p:cNvPr>
          <p:cNvPicPr>
            <a:picLocks noChangeAspect="1"/>
          </p:cNvPicPr>
          <p:nvPr>
            <a:videoFile r:link="rId22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37"/>
          <a:stretch>
            <a:fillRect/>
          </a:stretch>
        </p:blipFill>
        <p:spPr>
          <a:xfrm>
            <a:off x="6537960" y="4778883"/>
            <a:ext cx="2491740" cy="1557337"/>
          </a:xfrm>
          <a:prstGeom prst="rect">
            <a:avLst/>
          </a:prstGeom>
        </p:spPr>
      </p:pic>
      <p:pic>
        <p:nvPicPr>
          <p:cNvPr id="36" name="lee_game_wtc">
            <a:hlinkClick r:id="" action="ppaction://media"/>
          </p:cNvPr>
          <p:cNvPicPr>
            <a:picLocks noChangeAspect="1"/>
          </p:cNvPicPr>
          <p:nvPr>
            <a:videoFile r:link="rId24"/>
            <p:extLst>
              <p:ext uri="{DAA4B4D4-6D71-4841-9C94-3DE7FCFB9230}">
                <p14:media xmlns:p14="http://schemas.microsoft.com/office/powerpoint/2010/main" r:embed="rId23"/>
              </p:ext>
            </p:extLst>
          </p:nvPr>
        </p:nvPicPr>
        <p:blipFill>
          <a:blip r:embed="rId38"/>
          <a:stretch>
            <a:fillRect/>
          </a:stretch>
        </p:blipFill>
        <p:spPr>
          <a:xfrm>
            <a:off x="9121140" y="4778883"/>
            <a:ext cx="2491740" cy="1557337"/>
          </a:xfrm>
          <a:prstGeom prst="rect">
            <a:avLst/>
          </a:prstGeom>
        </p:spPr>
      </p:pic>
      <p:sp>
        <p:nvSpPr>
          <p:cNvPr id="23" name="Text 8"/>
          <p:cNvSpPr txBox="1"/>
          <p:nvPr/>
        </p:nvSpPr>
        <p:spPr>
          <a:xfrm>
            <a:off x="548640" y="60436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New people · 3× speed · click to play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7567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83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5867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5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5367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971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2501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98634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1135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98167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29302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9967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49269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87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7969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954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87511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7625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5136"/>
                            </p:stCondLst>
                            <p:childTnLst>
                              <p:par>
                                <p:cTn id="3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97542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2678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97292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40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5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46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>
                <p:cTn id="5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>
                <p:cTn id="58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3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>
                <p:cTn id="64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9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video>
              <p:cMediaNode>
                <p:cTn id="70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5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>
                <p:cTn id="76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81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>
                <p:cTn id="8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87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>
                <p:cTn id="88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93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video>
              <p:cMediaNode>
                <p:cTn id="94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99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video>
              <p:cMediaNode>
                <p:cTn id="100" fill="hold" display="0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05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video>
              <p:cMediaNode>
                <p:cTn id="106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1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ways to get the trunk angle</a:t>
            </a:r>
            <a:endParaRPr lang="en-US" sz="3000" dirty="0"/>
          </a:p>
        </p:txBody>
      </p:sp>
      <p:sp>
        <p:nvSpPr>
          <p:cNvPr id="4" name="Stereo ICP card"/>
          <p:cNvSpPr/>
          <p:nvPr/>
        </p:nvSpPr>
        <p:spPr>
          <a:xfrm>
            <a:off x="548640" y="1234440"/>
            <a:ext cx="3520440" cy="50292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tereo ICP dot"/>
          <p:cNvSpPr/>
          <p:nvPr/>
        </p:nvSpPr>
        <p:spPr>
          <a:xfrm>
            <a:off x="777240" y="1463040"/>
            <a:ext cx="411480" cy="411480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132588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Stereo ICP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Stereo depth → YOLO torso mask → chest surface → ICP against the neutral chest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3447288"/>
            <a:ext cx="3063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Parameters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3.3 M (seg model) + geometry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343400"/>
            <a:ext cx="3063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77240" y="4416552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Speed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Seg 50 ms on Q6A NPU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5239512"/>
            <a:ext cx="3063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77240" y="531266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Frames covered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Only frames with enough visible chest</a:t>
            </a:r>
            <a:endParaRPr lang="en-US" sz="1200" dirty="0"/>
          </a:p>
        </p:txBody>
      </p:sp>
      <p:sp>
        <p:nvSpPr>
          <p:cNvPr id="14" name="SAM 3D Body (teacher) card"/>
          <p:cNvSpPr/>
          <p:nvPr/>
        </p:nvSpPr>
        <p:spPr>
          <a:xfrm>
            <a:off x="4297680" y="1234440"/>
            <a:ext cx="3520440" cy="50292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AM 3D Body (teacher) dot"/>
          <p:cNvSpPr/>
          <p:nvPr/>
        </p:nvSpPr>
        <p:spPr>
          <a:xfrm>
            <a:off x="4526280" y="1463040"/>
            <a:ext cx="411480" cy="411480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507492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SAM 3D Body (teacher)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20574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Meta human-mesh model: one image → full 3D body mesh; trunk = upper-spine joint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3447288"/>
            <a:ext cx="3063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4526280" y="352044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Parameters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631 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26280" y="4343400"/>
            <a:ext cx="3063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4526280" y="4416552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Speed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200 ms on RTX 4060 laptop GPU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26280" y="5239512"/>
            <a:ext cx="3063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4526280" y="531266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Frames covered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frame</a:t>
            </a:r>
            <a:endParaRPr lang="en-US" sz="1200" dirty="0"/>
          </a:p>
        </p:txBody>
      </p:sp>
      <p:sp>
        <p:nvSpPr>
          <p:cNvPr id="24" name="Student (ours) card"/>
          <p:cNvSpPr/>
          <p:nvPr/>
        </p:nvSpPr>
        <p:spPr>
          <a:xfrm>
            <a:off x="8046720" y="1234440"/>
            <a:ext cx="3520440" cy="50292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tudent (ours) dot"/>
          <p:cNvSpPr/>
          <p:nvPr/>
        </p:nvSpPr>
        <p:spPr>
          <a:xfrm>
            <a:off x="8275320" y="1463040"/>
            <a:ext cx="411480" cy="411480"/>
          </a:xfrm>
          <a:prstGeom prst="ellipse">
            <a:avLst/>
          </a:prstGeom>
          <a:solidFill>
            <a:srgbClr val="7A1F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882396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Student (ours)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8275320" y="20574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ResNet18 trained to copy the teacher: grey 256 × 256 crop → keypoints + trunk rotation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275320" y="3447288"/>
            <a:ext cx="3063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 txBox="1"/>
          <p:nvPr/>
        </p:nvSpPr>
        <p:spPr>
          <a:xfrm>
            <a:off x="8275320" y="352044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Parameters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12.2 M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275320" y="4343400"/>
            <a:ext cx="3063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 txBox="1"/>
          <p:nvPr/>
        </p:nvSpPr>
        <p:spPr>
          <a:xfrm>
            <a:off x="8275320" y="4416552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Speed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4.1 ms on Q6A NPU (W8A16)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275320" y="5239512"/>
            <a:ext cx="3063240" cy="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8275320" y="531266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Frames covered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frame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Definition: total rotation and its error</a:t>
            </a:r>
            <a:endParaRPr lang="en-US" sz="3000" dirty="0"/>
          </a:p>
        </p:txBody>
      </p:sp>
      <p:pic>
        <p:nvPicPr>
          <p:cNvPr id="4" name="def_total_rotation.png" descr="Total rotation over time for camera and mocap with the error between them sha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3563349"/>
          </a:xfrm>
          <a:prstGeom prst="rect">
            <a:avLst/>
          </a:prstGeom>
        </p:spPr>
      </p:pic>
      <p:sp>
        <p:nvSpPr>
          <p:cNvPr id="5" name="points panel"/>
          <p:cNvSpPr/>
          <p:nvPr/>
        </p:nvSpPr>
        <p:spPr>
          <a:xfrm>
            <a:off x="7635240" y="1234440"/>
            <a:ext cx="3977640" cy="5029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points"/>
          <p:cNvSpPr txBox="1"/>
          <p:nvPr/>
        </p:nvSpPr>
        <p:spPr>
          <a:xfrm>
            <a:off x="7836408" y="1435608"/>
            <a:ext cx="35753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pose: mean trunk orientation over the first 15 frames that camera and mocap both have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protocol takes: start of the take; game takes: from the GPIO rise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θ(t): angle of the single rotation that takes the trunk from the start pose to its pose at time t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θ = arccos((trace(R(t) R₀ᵀ) − 1) / 2), 0–180°, never negative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rotation error = θ_camera(t) − θ_mocap(t), in degrees; box plots show its absolute value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no camera-to-mocap orientation: a rotation's angle is the same in any axes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Limit: compares sizes only. The right size about the wrong axis scores 0, so the three angles check direction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Definition: flexion, lateral bend, axial rotation</a:t>
            </a:r>
            <a:endParaRPr lang="en-US" sz="3000" dirty="0"/>
          </a:p>
        </p:txBody>
      </p:sp>
      <p:pic>
        <p:nvPicPr>
          <p:cNvPr id="4" name="def_axes.png" descr="Schematic of flexion, lateral bend and axial rotation in the neutral trunk ax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529" y="1143000"/>
            <a:ext cx="9558462" cy="2697480"/>
          </a:xfrm>
          <a:prstGeom prst="rect">
            <a:avLst/>
          </a:prstGeom>
        </p:spPr>
      </p:pic>
      <p:sp>
        <p:nvSpPr>
          <p:cNvPr id="5" name="Trunk axes panel"/>
          <p:cNvSpPr/>
          <p:nvPr/>
        </p:nvSpPr>
        <p:spPr>
          <a:xfrm>
            <a:off x="548640" y="3931920"/>
            <a:ext cx="5440680" cy="2359152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 txBox="1"/>
          <p:nvPr/>
        </p:nvSpPr>
        <p:spPr>
          <a:xfrm>
            <a:off x="749808" y="406908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Trunk axes</a:t>
            </a:r>
            <a:endParaRPr lang="en-US" sz="1700" dirty="0"/>
          </a:p>
        </p:txBody>
      </p:sp>
      <p:sp>
        <p:nvSpPr>
          <p:cNvPr id="7" name="Trunk axes"/>
          <p:cNvSpPr txBox="1"/>
          <p:nvPr/>
        </p:nvSpPr>
        <p:spPr>
          <a:xfrm>
            <a:off x="749808" y="4498848"/>
            <a:ext cx="50383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Camera: lateral x = left minus right shoulder (3D); anterior a = chest-surface normal; up u = a × x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Mocap: sternum rigid body; origin → lateral marker = x, origin → anterior marker = a, u = a × x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x₀, u₀, a₀: the start pose (mean of the first 15 frames), from the camera geometry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 and x: the same axes after the trunk rotation measured at time t</a:t>
            </a:r>
            <a:endParaRPr lang="en-US" sz="1300" dirty="0"/>
          </a:p>
        </p:txBody>
      </p:sp>
      <p:sp>
        <p:nvSpPr>
          <p:cNvPr id="8" name="Mocap in camera axes panel"/>
          <p:cNvSpPr/>
          <p:nvPr/>
        </p:nvSpPr>
        <p:spPr>
          <a:xfrm>
            <a:off x="6172200" y="3931920"/>
            <a:ext cx="5440680" cy="2359152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6373368" y="406908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Mocap in camera axes</a:t>
            </a:r>
            <a:endParaRPr lang="en-US" sz="1700" dirty="0"/>
          </a:p>
        </p:txBody>
      </p:sp>
      <p:sp>
        <p:nvSpPr>
          <p:cNvPr id="10" name="Mocap in camera axes"/>
          <p:cNvSpPr txBox="1"/>
          <p:nvPr/>
        </p:nvSpPr>
        <p:spPr>
          <a:xfrm>
            <a:off x="6373368" y="4498848"/>
            <a:ext cx="50383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Camera and mocap axes differ by a fixed rotation S (marker mounting, calibration)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 is fitted per method by Kabsch: mocap rotation vectors onto the method's rotation vectors, frames &gt; 5° from the start pose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Fitted on the person's woc take, reused for their wc and game takes; game takes move too little to fit S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Total rotation does not use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Definition: how errors are scored</a:t>
            </a:r>
            <a:endParaRPr lang="en-US" sz="3000" dirty="0"/>
          </a:p>
        </p:txBody>
      </p:sp>
      <p:sp>
        <p:nvSpPr>
          <p:cNvPr id="4" name="Pairing camera and mocap frames panel"/>
          <p:cNvSpPr/>
          <p:nvPr/>
        </p:nvSpPr>
        <p:spPr>
          <a:xfrm>
            <a:off x="548640" y="1234440"/>
            <a:ext cx="5440680" cy="50292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749808" y="137160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Pairing camera and mocap frames</a:t>
            </a:r>
            <a:endParaRPr lang="en-US" sz="1700" dirty="0"/>
          </a:p>
        </p:txBody>
      </p:sp>
      <p:sp>
        <p:nvSpPr>
          <p:cNvPr id="6" name="Pairing camera and mocap frames"/>
          <p:cNvSpPr txBox="1"/>
          <p:nvPr/>
        </p:nvSpPr>
        <p:spPr>
          <a:xfrm>
            <a:off x="749808" y="1801368"/>
            <a:ext cx="503834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Sync: the camera's GPIO pin is high while Motive records; its rising edge is mocap t = 0, and each camera frame takes the nearest mocap sample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Mocap is split where the rigid body re-locks (jump &gt; 10 cm); the longest clean stretch is scored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Frames scored: protocol takes every frame (30 Hz); Sep 23 game every 3rd (10 Hz); Oct game every 6th (5 Hz)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Camera angles smoothed (Savitzky–Golay, 11 frames, order 3); mocap left raw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Frames a method did not solve are dropped, never interpolated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Frames solved (%) = frames in the mocap window where the method returned an angle</a:t>
            </a:r>
            <a:endParaRPr lang="en-US" sz="1400" dirty="0"/>
          </a:p>
        </p:txBody>
      </p:sp>
      <p:sp>
        <p:nvSpPr>
          <p:cNvPr id="7" name="Statistics panel"/>
          <p:cNvSpPr/>
          <p:nvPr/>
        </p:nvSpPr>
        <p:spPr>
          <a:xfrm>
            <a:off x="6172200" y="1234440"/>
            <a:ext cx="5440680" cy="50292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373368" y="1371600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Statistics</a:t>
            </a:r>
            <a:endParaRPr lang="en-US" sz="1700" dirty="0"/>
          </a:p>
        </p:txBody>
      </p:sp>
      <p:sp>
        <p:nvSpPr>
          <p:cNvPr id="9" name="Statistics"/>
          <p:cNvSpPr txBox="1"/>
          <p:nvPr/>
        </p:nvSpPr>
        <p:spPr>
          <a:xfrm>
            <a:off x="6373368" y="1801368"/>
            <a:ext cx="503834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 per frame = camera − mocap (°); boxes and medians use its size |error|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Box = middle 50 % of frames, line = median, whiskers = 5th–95th percentile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Protocol takes: every method on the frames ICP solved; game takes: each method on its own frames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Frames are pooled across takes; neighbouring frames are correlated, so no significance tests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Mean of per-take medians (student versions): median per take, averaged over the 6 unseen takes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Slope = least-squares line of reading vs mocap; gain (synthetic check) = slope through zero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Seen = in the student's training set; unseen = never trained on · Speed = network time, median of 100 runs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ICP is accurate when it sees the chest, not in the game</a:t>
            </a:r>
            <a:endParaRPr lang="en-US" sz="3000" dirty="0"/>
          </a:p>
        </p:txBody>
      </p:sp>
      <p:pic>
        <p:nvPicPr>
          <p:cNvPr id="4" name="icp_protocol_vs_game.png" descr="Box plot: ICP error vs mocap, protocol vs game takes, per ax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766560" cy="4400459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708051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Box = middle 50 % of frames · line = median (printed) · whiskers = 5th–95th percentile</a:t>
            </a:r>
            <a:endParaRPr lang="en-US" sz="1150" dirty="0"/>
          </a:p>
        </p:txBody>
      </p:sp>
      <p:sp>
        <p:nvSpPr>
          <p:cNvPr id="6" name="caption"/>
          <p:cNvSpPr txBox="1"/>
          <p:nvPr/>
        </p:nvSpPr>
        <p:spPr>
          <a:xfrm>
            <a:off x="548640" y="5954939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Flexion / lateral / axial: each method's camera-to-mocap orientation fitted on the person's woc take</a:t>
            </a:r>
            <a:endParaRPr lang="en-US" sz="1150" dirty="0"/>
          </a:p>
        </p:txBody>
      </p:sp>
      <p:sp>
        <p:nvSpPr>
          <p:cNvPr id="7" name="points panel"/>
          <p:cNvSpPr/>
          <p:nvPr/>
        </p:nvSpPr>
        <p:spPr>
          <a:xfrm>
            <a:off x="7589520" y="1234440"/>
            <a:ext cx="4023360" cy="502920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points"/>
          <p:cNvSpPr txBox="1"/>
          <p:nvPr/>
        </p:nvSpPr>
        <p:spPr>
          <a:xfrm>
            <a:off x="7790688" y="1435608"/>
            <a:ext cx="362102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7 people, same day (Oct)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Protocol takes: median 1.4–1.7° on every axis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Game takes: median 3.6–4.7°, about 3× worse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the game the arms reach across the chest and the robot cube sits in front of it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Scored only on frames ICP solved: the frames it lost are not in these boxes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In the game, ICP loses up to half the frames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69494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oints panel"/>
          <p:cNvSpPr/>
          <p:nvPr/>
        </p:nvSpPr>
        <p:spPr>
          <a:xfrm>
            <a:off x="7772400" y="1234440"/>
            <a:ext cx="3840480" cy="5029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points"/>
          <p:cNvSpPr txBox="1"/>
          <p:nvPr/>
        </p:nvSpPr>
        <p:spPr>
          <a:xfrm>
            <a:off x="7973568" y="1435608"/>
            <a:ext cx="3438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Protocol takes: ICP solves 85–100 % of frames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Game takes: 48–88 % (Lee 48 %, Diwakar 49 %)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 3D Body: 99–100 % in every take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Lost frames: the visible chest is too small to register, not a stereo failure</a:t>
            </a:r>
            <a:endParaRPr lang="en-US" sz="16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Only 194 of 1312 lost frames (Gokul, Sep) were stereo holes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ICP error is set by how much chest it can see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234440"/>
          <a:ext cx="5440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points panel"/>
          <p:cNvSpPr/>
          <p:nvPr/>
        </p:nvSpPr>
        <p:spPr>
          <a:xfrm>
            <a:off x="548640" y="4754880"/>
            <a:ext cx="110642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points"/>
          <p:cNvSpPr txBox="1"/>
          <p:nvPr/>
        </p:nvSpPr>
        <p:spPr>
          <a:xfrm>
            <a:off x="749808" y="4956048"/>
            <a:ext cx="10661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31 % of game frames have &lt; 200 chest points: ICP cannot run there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≥ 800 points: ICP 1.2–1.7°, as good as the protocol takes, but only 17 % of frames get there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200–800 points: ICP 3.6–7.6°; SAM 3D Body 1.0–2.9° at every size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Best ICP person in the game: Gokul</a:t>
            </a:r>
            <a:endParaRPr lang="en-US" sz="3000" dirty="0"/>
          </a:p>
        </p:txBody>
      </p:sp>
      <p:pic>
        <p:nvPicPr>
          <p:cNvPr id="4" name="sep_game_axes_gokul.png" descr="Gokul game take: flexion, lateral bend and axial rotation over time, mocap vs SAM 3D Body vs IC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87" y="1188720"/>
            <a:ext cx="7245466" cy="48920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6126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Each angle from the start pose · each method vs mocap in its own orientation, set on the woc take · ICP spikes clipped</a:t>
            </a:r>
            <a:endParaRPr lang="en-US" sz="1150" dirty="0"/>
          </a:p>
        </p:txBody>
      </p:sp>
      <p:sp>
        <p:nvSpPr>
          <p:cNvPr id="6" name="points panel"/>
          <p:cNvSpPr/>
          <p:nvPr/>
        </p:nvSpPr>
        <p:spPr>
          <a:xfrm>
            <a:off x="8915400" y="1234440"/>
            <a:ext cx="2697480" cy="502920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points"/>
          <p:cNvSpPr txBox="1"/>
          <p:nvPr/>
        </p:nvSpPr>
        <p:spPr>
          <a:xfrm>
            <a:off x="9116568" y="1435608"/>
            <a:ext cx="2295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ICP solves 72 % of frames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Median |error|, flexion / lateral / axial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ICP 1.5 / 3.0 / 1.3°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SAM 3D Body 1.5 / 0.9 / 2.1°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ICP's weak axis is lateral bend: frequent ±10° spikes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 3D Body reads 3–5° more axial twist between 50 and 150 s, and misses several flexion peaks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Worst ICP person in the game: Kabil</a:t>
            </a:r>
            <a:endParaRPr lang="en-US" sz="3000" dirty="0"/>
          </a:p>
        </p:txBody>
      </p:sp>
      <p:pic>
        <p:nvPicPr>
          <p:cNvPr id="4" name="sep_game_axes_kabil.png" descr="Kabil game take: flexion, lateral bend and axial rotation over time, mocap vs SAM 3D Body vs IC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87" y="1188720"/>
            <a:ext cx="7245466" cy="48920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6126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Each angle from the start pose · each method vs mocap in its own orientation, set on the woc take · ICP spikes clipped</a:t>
            </a:r>
            <a:endParaRPr lang="en-US" sz="1150" dirty="0"/>
          </a:p>
        </p:txBody>
      </p:sp>
      <p:sp>
        <p:nvSpPr>
          <p:cNvPr id="6" name="points panel"/>
          <p:cNvSpPr/>
          <p:nvPr/>
        </p:nvSpPr>
        <p:spPr>
          <a:xfrm>
            <a:off x="8915400" y="1234440"/>
            <a:ext cx="2697480" cy="502920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points"/>
          <p:cNvSpPr txBox="1"/>
          <p:nvPr/>
        </p:nvSpPr>
        <p:spPr>
          <a:xfrm>
            <a:off x="9116568" y="1435608"/>
            <a:ext cx="2295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ICP solves 50 % of frames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Median |error|, flexion / lateral / axial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ICP, first 170 s: 3.6 / 27.1 / 5.4°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ICP, after 170 s: 2.3 / 5.2 / 2.7°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SAM 3D Body, whole take: 1.7 / 1.5 / 1.6°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ICP fails mostly in lateral bend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Why: next slide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Best and worst ICP person in the game: the videos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Gokul</a:t>
            </a:r>
            <a:r>
              <a:rPr lang="en-US" sz="1700" dirty="0">
                <a:solidFill>
                  <a:schemeClr val="accent5"/>
                </a:solidFill>
              </a:rPr>
              <a:t>  best: ICP solves 72 % of frames</a:t>
            </a:r>
            <a:endParaRPr lang="en-US" sz="1700" dirty="0"/>
          </a:p>
        </p:txBody>
      </p:sp>
      <p:pic>
        <p:nvPicPr>
          <p:cNvPr id="3" name="gokul_sep23_gam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48640" y="1600200"/>
            <a:ext cx="5440680" cy="34004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72200" y="11887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Kabil</a:t>
            </a:r>
            <a:r>
              <a:rPr lang="en-US" sz="1700" dirty="0">
                <a:solidFill>
                  <a:schemeClr val="accent5"/>
                </a:solidFill>
              </a:rPr>
              <a:t>  worst: ICP solves 50 % of frames</a:t>
            </a:r>
            <a:endParaRPr lang="en-US" sz="1700" dirty="0"/>
          </a:p>
        </p:txBody>
      </p:sp>
      <p:pic>
        <p:nvPicPr>
          <p:cNvPr id="5" name="kabil_sep23_game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72200" y="1600200"/>
            <a:ext cx="5440680" cy="3400425"/>
          </a:xfrm>
          <a:prstGeom prst="rect">
            <a:avLst/>
          </a:prstGeom>
        </p:spPr>
      </p:pic>
      <p:sp>
        <p:nvSpPr>
          <p:cNvPr id="8" name="points panel"/>
          <p:cNvSpPr/>
          <p:nvPr/>
        </p:nvSpPr>
        <p:spPr>
          <a:xfrm>
            <a:off x="548640" y="5137785"/>
            <a:ext cx="11064240" cy="1171575"/>
          </a:xfrm>
          <a:prstGeom prst="roundRect">
            <a:avLst>
              <a:gd name="adj" fmla="val 936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points"/>
          <p:cNvSpPr txBox="1"/>
          <p:nvPr/>
        </p:nvSpPr>
        <p:spPr>
          <a:xfrm>
            <a:off x="749808" y="5338953"/>
            <a:ext cx="10661904" cy="769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Kabil: the robot cube sits in front of his chest, so ICP sees only a strip of it. Its median lateral bend error is 27.1° in the first 170 s and 5.2° after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 3D Body sees the whole body: on Kabil its median error stays at or under 2.8° for every angle, before and after 170 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at 3× speed; click a video to play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Why Kabil's ICP is wrong: the robot cube covers his chest</a:t>
            </a:r>
            <a:endParaRPr lang="en-US" sz="3000" dirty="0"/>
          </a:p>
        </p:txBody>
      </p:sp>
      <p:pic>
        <p:nvPicPr>
          <p:cNvPr id="4" name="diag_kabil_icp.png" descr="Kabil game take: camera frames and registered chest shell vs neutral chest at the start, early play and late pl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96" y="1188720"/>
            <a:ext cx="7074568" cy="5120640"/>
          </a:xfrm>
          <a:prstGeom prst="rect">
            <a:avLst/>
          </a:prstGeom>
        </p:spPr>
      </p:pic>
      <p:sp>
        <p:nvSpPr>
          <p:cNvPr id="5" name="points panel"/>
          <p:cNvSpPr/>
          <p:nvPr/>
        </p:nvSpPr>
        <p:spPr>
          <a:xfrm>
            <a:off x="8275320" y="1234440"/>
            <a:ext cx="3337560" cy="502920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points"/>
          <p:cNvSpPr txBox="1"/>
          <p:nvPr/>
        </p:nvSpPr>
        <p:spPr>
          <a:xfrm>
            <a:off x="8476488" y="1435608"/>
            <a:ext cx="293522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Flexion / lateral / axial, degrees from the start pose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(t = 1 s): whole chest visible, 1,352 points; every method within 1° of 0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Early play (t = 76 s): the cube covers the chest, a 253-point strip is left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ICP 15 / -39 / 7 vs mocap 7 / 1 / -7: lateral 40° off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SAM 3D Body 4 / 2 / -8 vs mocap 7 / 4 / -6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Late play (t = 245 s): cube aside, 685 points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ICP 8 / 4 / -11 vs mocap 6 / 4 / -8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SAM 3D Body 10 / 3 / -13 vs mocap 6 / 7 / -7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Fixes tried for ICP: none closed the gap</a:t>
            </a:r>
            <a:endParaRPr lang="en-US" sz="3000" dirty="0"/>
          </a:p>
        </p:txBody>
      </p:sp>
      <p:graphicFrame>
        <p:nvGraphicFramePr>
          <p:cNvPr id="16" name="fix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4137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Frames solved (%)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Error (°)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 shell: keep the dominant depth layer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17–62 → 50–72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 frames poor: 7–12 median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Kept as default; needs a size gate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Crop to top 20–40 % of the shell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About unchanged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Spikes trimmed (Diwakar p95 27 → 11); protocol worse (2.7 → 4.6)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Dropped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Blend with MediaPipe landmarks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13–20 median, r 0.1–0.2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Dropped: fails on the same frames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Mono depth (YOLO26n-depth) + stereo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53 → 55; mono only 77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Mono only: 7.8 median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Dropped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Gate: ≥ 800 chest points only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1–31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0.1–2.4 median, p95 ≤ 5.5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Accurate but too few frames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points panel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points"/>
          <p:cNvSpPr txBox="1"/>
          <p:nvPr/>
        </p:nvSpPr>
        <p:spPr>
          <a:xfrm>
            <a:off x="749808" y="5276088"/>
            <a:ext cx="10661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fix trades frames for accuracy; no geometric variant gets both in the game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failure is partial-overlap registration of a small chest patch, not depth noise or brightness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SAM 3D Body: a full body from one image</a:t>
            </a:r>
            <a:endParaRPr lang="en-US" sz="3000" dirty="0"/>
          </a:p>
        </p:txBody>
      </p:sp>
      <p:pic>
        <p:nvPicPr>
          <p:cNvPr id="4" name="sam3d_row.png" descr="SAM 3D Body keypoints, mesh overlay and side view of the mes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11064240" cy="3381083"/>
          </a:xfrm>
          <a:prstGeom prst="rect">
            <a:avLst/>
          </a:prstGeom>
        </p:spPr>
      </p:pic>
      <p:sp>
        <p:nvSpPr>
          <p:cNvPr id="5" name="points panel"/>
          <p:cNvSpPr/>
          <p:nvPr/>
        </p:nvSpPr>
        <p:spPr>
          <a:xfrm>
            <a:off x="548640" y="4706963"/>
            <a:ext cx="11064240" cy="1556677"/>
          </a:xfrm>
          <a:prstGeom prst="roundRect">
            <a:avLst>
              <a:gd name="adj" fmla="val 704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points"/>
          <p:cNvSpPr txBox="1"/>
          <p:nvPr/>
        </p:nvSpPr>
        <p:spPr>
          <a:xfrm>
            <a:off x="749808" y="4908131"/>
            <a:ext cx="10661904" cy="115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Explains the arms instead of masking them → an answer on every frame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Trunk = upper-thoracic spine joint (c_spine3), where the sternum marker sits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Input: one camera, grey, undistorted 640 × 400, one fixed person box per take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631 M parameters · 200 ms per frame on an RTX 4060 laptop GPU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In the game, SAM 3D Body beats ICP for 4 of 5 people</a:t>
            </a:r>
            <a:endParaRPr lang="en-US" sz="3000" dirty="0"/>
          </a:p>
        </p:txBody>
      </p:sp>
      <p:pic>
        <p:nvPicPr>
          <p:cNvPr id="4" name="sep_game_subject_box.png" descr="Box plot of total rotation error per person: ICP vs SAM 3D Body, game tak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766560" cy="4407201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714793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Box = middle 50 % of frames · line = median (printed) · whiskers = 5th–95th percentile</a:t>
            </a:r>
            <a:endParaRPr lang="en-US" sz="1150" dirty="0"/>
          </a:p>
        </p:txBody>
      </p:sp>
      <p:sp>
        <p:nvSpPr>
          <p:cNvPr id="6" name="points panel"/>
          <p:cNvSpPr/>
          <p:nvPr/>
        </p:nvSpPr>
        <p:spPr>
          <a:xfrm>
            <a:off x="7589520" y="1234440"/>
            <a:ext cx="4023360" cy="502920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points"/>
          <p:cNvSpPr txBox="1"/>
          <p:nvPr/>
        </p:nvSpPr>
        <p:spPr>
          <a:xfrm>
            <a:off x="7790688" y="1435608"/>
            <a:ext cx="362102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 3D Body: median 1.3–3.9° on 100 % of frames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ICP: median 1.4–9.4° on only 50–72 % of frames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ICP wins only for Gokul, who keeps the most chest visible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Teacher limits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Second camera adds nothing: errors of the two views correlate r 0.96–0.98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Over-reads large lateral bends by about 20 %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In the game it reads 1.7–3.9° high for 3 of 5 people; for Diwakar and Gokul more so when the elbows are bent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teacher cannot run on the board, so we distil a student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69494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oints panel"/>
          <p:cNvSpPr/>
          <p:nvPr/>
        </p:nvSpPr>
        <p:spPr>
          <a:xfrm>
            <a:off x="7772400" y="1234440"/>
            <a:ext cx="3840480" cy="5029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points"/>
          <p:cNvSpPr txBox="1"/>
          <p:nvPr/>
        </p:nvSpPr>
        <p:spPr>
          <a:xfrm>
            <a:off x="7973568" y="1435608"/>
            <a:ext cx="3438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Teacher: 631 M parameters, 200 ms per frame on a laptop GPU; too big for the Q6A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Student labels = teacher output on the training people's recordings + COCO people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Student: 12.2 M parameters (52× smaller)</a:t>
            </a:r>
            <a:endParaRPr lang="en-US" sz="15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4.1 ms on the Q6A NPU, 105 ms on its CPU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output on every frame, no depth, no chest visibility needed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Student problem 1: postures it never saw in training</a:t>
            </a:r>
            <a:endParaRPr lang="en-US" sz="3000" dirty="0"/>
          </a:p>
        </p:txBody>
      </p:sp>
      <p:pic>
        <p:nvPicPr>
          <p:cNvPr id="4" name="v1_unseen_wc_box.png" descr="Box plot: student v1 vs teacher vs ICP on new people's wc tak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498080" cy="3715789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023381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Box = middle 50 % of frames · line = median (printed) · whiskers = 5th–95th percentile</a:t>
            </a:r>
            <a:endParaRPr lang="en-US" sz="1150" dirty="0"/>
          </a:p>
        </p:txBody>
      </p:sp>
      <p:sp>
        <p:nvSpPr>
          <p:cNvPr id="6" name="caption"/>
          <p:cNvSpPr txBox="1"/>
          <p:nvPr/>
        </p:nvSpPr>
        <p:spPr>
          <a:xfrm>
            <a:off x="548640" y="5270269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Flexion / lateral / axial: each method's camera-to-mocap orientation fitted on the person's woc take</a:t>
            </a:r>
            <a:endParaRPr lang="en-US" sz="1150" dirty="0"/>
          </a:p>
        </p:txBody>
      </p:sp>
      <p:sp>
        <p:nvSpPr>
          <p:cNvPr id="7" name="points panel"/>
          <p:cNvSpPr/>
          <p:nvPr/>
        </p:nvSpPr>
        <p:spPr>
          <a:xfrm>
            <a:off x="8321040" y="1234440"/>
            <a:ext cx="3291840" cy="5029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points"/>
          <p:cNvSpPr txBox="1"/>
          <p:nvPr/>
        </p:nvSpPr>
        <p:spPr>
          <a:xfrm>
            <a:off x="8522208" y="1435608"/>
            <a:ext cx="28895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v1 trained on 5 people, woc + game takes only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New people, wc takes: lateral 5.0° vs teacher 2.0°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Jerome wc: student 5.0° total vs teacher 1.5°, ICP 1.1°: the error is the student's own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Fix (v2): add wc takes and the Oct sessions of the 4 returning people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Student problem 2: it learns the people, not the trunk</a:t>
            </a:r>
            <a:endParaRPr lang="en-US" sz="3000" dirty="0"/>
          </a:p>
        </p:txBody>
      </p:sp>
      <p:pic>
        <p:nvPicPr>
          <p:cNvPr id="4" name="seen_unseen_box.png" descr="Box plot: student vs teacher on seen vs unseen peo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16" y="1234440"/>
            <a:ext cx="7212807" cy="448056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788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Box = middle 50 % of frames · line = median (printed) · whiskers = 5th–95th percentile</a:t>
            </a:r>
            <a:endParaRPr lang="en-US" sz="1150" dirty="0"/>
          </a:p>
        </p:txBody>
      </p:sp>
      <p:sp>
        <p:nvSpPr>
          <p:cNvPr id="6" name="caption"/>
          <p:cNvSpPr txBox="1"/>
          <p:nvPr/>
        </p:nvSpPr>
        <p:spPr>
          <a:xfrm>
            <a:off x="548640" y="6035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Flexion / lateral / axial: each method's camera-to-mocap orientation fitted on the person's woc take</a:t>
            </a:r>
            <a:endParaRPr lang="en-US" sz="1150" dirty="0"/>
          </a:p>
        </p:txBody>
      </p:sp>
      <p:sp>
        <p:nvSpPr>
          <p:cNvPr id="7" name="points panel"/>
          <p:cNvSpPr/>
          <p:nvPr/>
        </p:nvSpPr>
        <p:spPr>
          <a:xfrm>
            <a:off x="8503920" y="1234440"/>
            <a:ext cx="3108960" cy="502920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points"/>
          <p:cNvSpPr txBox="1"/>
          <p:nvPr/>
        </p:nvSpPr>
        <p:spPr>
          <a:xfrm>
            <a:off x="8705088" y="1435608"/>
            <a:ext cx="270662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People it trained on: student ≈ teacher (flexion 1.4 vs 1.5°, axial 1.3 vs 1.5°)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New people: v2 falls behind (flexion 2.5 vs 1.5°, axial 2.5 vs 2.0°)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network, same task: it learned the 5 people, not trunk pose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 synthetic people (v3), new-people flexion 2.5 → 1.9°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v3 is still 0.3–0.4° behind the teacher on new people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Student problem 3: it shrinks large flexion on new people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69494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oints panel"/>
          <p:cNvSpPr/>
          <p:nvPr/>
        </p:nvSpPr>
        <p:spPr>
          <a:xfrm>
            <a:off x="7772400" y="1234440"/>
            <a:ext cx="3840480" cy="5029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points"/>
          <p:cNvSpPr txBox="1"/>
          <p:nvPr/>
        </p:nvSpPr>
        <p:spPr>
          <a:xfrm>
            <a:off x="7973568" y="1435608"/>
            <a:ext cx="3438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Teacher and ICP follow the diagonal (slope 0.92, 0.91)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Student v2: slope 0.81; at 12.5° true flexion it reads 7.6°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Flexion = leaning toward the camera, the weakest cue in one image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Training poses are mostly upright (71–85 % within ±5°), so an unsure student falls back to upright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v3 (+ synthetic): slope 0.85, reads 9.0°: partly fixed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Why render synthetic humans</a:t>
            </a:r>
            <a:endParaRPr lang="en-US" sz="3000" dirty="0"/>
          </a:p>
        </p:txBody>
      </p:sp>
      <p:pic>
        <p:nvPicPr>
          <p:cNvPr id="4" name="synth_montage.png" descr="Eight synthetic seated people rendered in the rig's camera 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775" y="1188720"/>
            <a:ext cx="9017970" cy="3154680"/>
          </a:xfrm>
          <a:prstGeom prst="rect">
            <a:avLst/>
          </a:prstGeom>
        </p:spPr>
      </p:pic>
      <p:sp>
        <p:nvSpPr>
          <p:cNvPr id="5" name="points panel"/>
          <p:cNvSpPr/>
          <p:nvPr/>
        </p:nvSpPr>
        <p:spPr>
          <a:xfrm>
            <a:off x="548640" y="448056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points"/>
          <p:cNvSpPr txBox="1"/>
          <p:nvPr/>
        </p:nvSpPr>
        <p:spPr>
          <a:xfrm>
            <a:off x="749808" y="4681728"/>
            <a:ext cx="50383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bottleneck is identities: only 5 real training people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1,500 random adults, 15,000 frames, 1.6 h on the laptop GPU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 seated poses: teacher fits of the training people only (52k-pose pool)</a:t>
            </a:r>
            <a:endParaRPr lang="en-US" sz="1500" dirty="0"/>
          </a:p>
        </p:txBody>
      </p:sp>
      <p:sp>
        <p:nvSpPr>
          <p:cNvPr id="7" name="points panel"/>
          <p:cNvSpPr/>
          <p:nvPr/>
        </p:nvSpPr>
        <p:spPr>
          <a:xfrm>
            <a:off x="6172200" y="448056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points"/>
          <p:cNvSpPr txBox="1"/>
          <p:nvPr/>
        </p:nvSpPr>
        <p:spPr>
          <a:xfrm>
            <a:off x="6373368" y="4681728"/>
            <a:ext cx="50383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Varied rooms, tables, lighting, robot cube, bystanders; camera placed like the rig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Converted to the camera's grey look before labelling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Weak spot: about 10 outfits, so clothing variety is low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Teacher misreads synthetic flexion, so labels use rendered truth</a:t>
            </a:r>
            <a:endParaRPr lang="en-US" sz="3000" dirty="0"/>
          </a:p>
        </p:txBody>
      </p:sp>
      <p:pic>
        <p:nvPicPr>
          <p:cNvPr id="4" name="synth_teacher_vs_truth.png" descr="Teacher reading vs rendered truth on synthetic frames, per ax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180" y="1188720"/>
            <a:ext cx="9785160" cy="3520440"/>
          </a:xfrm>
          <a:prstGeom prst="rect">
            <a:avLst/>
          </a:prstGeom>
        </p:spPr>
      </p:pic>
      <p:sp>
        <p:nvSpPr>
          <p:cNvPr id="5" name="points panel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points"/>
          <p:cNvSpPr txBox="1"/>
          <p:nvPr/>
        </p:nvSpPr>
        <p:spPr>
          <a:xfrm>
            <a:off x="749808" y="5047488"/>
            <a:ext cx="106619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Teacher on synthetic people: flexion gain 0.54 (r 0.63); lateral 0.92, axial 0.98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real people the teacher reads flexion at gain ≈ 0.9 vs mocap, so this is a synthetic-domain gap; copying it would teach the student to under-read flexion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So: synthetic trunk label = rendered truth (offset to the teacher's mean per person); keypoints and arms stay teacher labels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Synthetic people improve flexion on new people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188720"/>
          <a:ext cx="36118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251960" y="1188720"/>
          <a:ext cx="36118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548640" y="3749040"/>
          <a:ext cx="36118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/>
        </p:nvGraphicFramePr>
        <p:xfrm>
          <a:off x="4251960" y="3749040"/>
          <a:ext cx="36118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points panel"/>
          <p:cNvSpPr/>
          <p:nvPr/>
        </p:nvSpPr>
        <p:spPr>
          <a:xfrm>
            <a:off x="8046720" y="1234440"/>
            <a:ext cx="3566160" cy="50292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points"/>
          <p:cNvSpPr txBox="1"/>
          <p:nvPr/>
        </p:nvSpPr>
        <p:spPr>
          <a:xfrm>
            <a:off x="8247888" y="1435608"/>
            <a:ext cx="316382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Adding synthetic people: flexion 2.58 → 2.21°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Synthetic at 40 % of batches: flexion 2.21 → 1.94°, total 2.85 → 2.67°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recipe trained twice differs by up to 0.2°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v4 flexion-balanced synthetic poses: flexion 1.96°, no gain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Lateral: worse in v3 (2.75°), back to v2's level with 40 % synthetic (2.26°)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Teacher (dashed blue) is still the ceiling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Protocol take close-up: Lee (new person)</a:t>
            </a:r>
            <a:endParaRPr lang="en-US" sz="3000" dirty="0"/>
          </a:p>
        </p:txBody>
      </p:sp>
      <p:pic>
        <p:nvPicPr>
          <p:cNvPr id="4" name="woc_trace_lee.png" descr="Lee woc take, 7–27 s: flexion, lateral bend and axial rotation, ICP vs SAM 3D Body vs student, each against moc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93" y="1188720"/>
            <a:ext cx="7946053" cy="48920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6126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Each column: one method vs mocap in that method's own orientation · each angle from the start pose · student never saw this person</a:t>
            </a:r>
            <a:endParaRPr lang="en-US" sz="1150" dirty="0"/>
          </a:p>
        </p:txBody>
      </p:sp>
      <p:sp>
        <p:nvSpPr>
          <p:cNvPr id="6" name="points panel"/>
          <p:cNvSpPr/>
          <p:nvPr/>
        </p:nvSpPr>
        <p:spPr>
          <a:xfrm>
            <a:off x="8915400" y="1234440"/>
            <a:ext cx="2697480" cy="502920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points"/>
          <p:cNvSpPr txBox="1"/>
          <p:nvPr/>
        </p:nvSpPr>
        <p:spPr>
          <a:xfrm>
            <a:off x="9116568" y="1435608"/>
            <a:ext cx="2295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 s of the 56 s take (7–27 s)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|error| here, flexion / lateral / axial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ICP 1.1 / 2.6 / 1.0°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SAM 3D Body 2.6 / 2.6 / 1.1°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Student v3 2.2 / 2.3 / 3.1°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ICP solves 98 % here and follows every peak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Forward lean at 21 s (mocap 28°): ICP 24°, SAM 3D Body 20°, student 18°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After a 0.3 s mocap dropout at 16.5 s, all three methods' lateral error grows by 2–3° at once: most likely the mocap re-locked, not the cameras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Protocol take close-up: Arjun (new person)</a:t>
            </a:r>
            <a:endParaRPr lang="en-US" sz="3000" dirty="0"/>
          </a:p>
        </p:txBody>
      </p:sp>
      <p:pic>
        <p:nvPicPr>
          <p:cNvPr id="4" name="woc_trace_arjun.png" descr="Arjun woc take, 10–30 s: flexion, lateral bend and axial rotation, ICP vs SAM 3D Body vs student, each against moc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93" y="1188720"/>
            <a:ext cx="7946053" cy="48920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6126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Each column: one method vs mocap in that method's own orientation · each angle from the start pose · student never saw this person</a:t>
            </a:r>
            <a:endParaRPr lang="en-US" sz="1150" dirty="0"/>
          </a:p>
        </p:txBody>
      </p:sp>
      <p:sp>
        <p:nvSpPr>
          <p:cNvPr id="6" name="points panel"/>
          <p:cNvSpPr/>
          <p:nvPr/>
        </p:nvSpPr>
        <p:spPr>
          <a:xfrm>
            <a:off x="8915400" y="1234440"/>
            <a:ext cx="2697480" cy="502920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points"/>
          <p:cNvSpPr txBox="1"/>
          <p:nvPr/>
        </p:nvSpPr>
        <p:spPr>
          <a:xfrm>
            <a:off x="9116568" y="1435608"/>
            <a:ext cx="2295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 s of the 51 s take (10–30 s)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|error| here, flexion / lateral / axial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ICP 0.9 / 2.0 / 1.3°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SAM 3D Body 1.2 / 2.5 / 3.1°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Student v3 1.3 / 2.8 / 3.7°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ICP solves 81 % here: it loses the ends of both left twists (−57°, −53°) and reads 22° at the +53° twist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Side bend at 10.5 s (mocap 28°): SAM 3D Body 20°, student 23°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 3D Body and student over-read the left twists by 5⁠–⁠7°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Protocol take close-up: Jerome (new person)</a:t>
            </a:r>
            <a:endParaRPr lang="en-US" sz="3000" dirty="0"/>
          </a:p>
        </p:txBody>
      </p:sp>
      <p:pic>
        <p:nvPicPr>
          <p:cNvPr id="4" name="woc_trace_jerome.png" descr="Jerome woc take, 17–37 s: flexion, lateral bend and axial rotation, ICP vs SAM 3D Body vs student, each against moc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93" y="1188720"/>
            <a:ext cx="7946053" cy="489204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6126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Each column: one method vs mocap in that method's own orientation · each angle from the start pose · student never saw this person</a:t>
            </a:r>
            <a:endParaRPr lang="en-US" sz="1150" dirty="0"/>
          </a:p>
        </p:txBody>
      </p:sp>
      <p:sp>
        <p:nvSpPr>
          <p:cNvPr id="6" name="points panel"/>
          <p:cNvSpPr/>
          <p:nvPr/>
        </p:nvSpPr>
        <p:spPr>
          <a:xfrm>
            <a:off x="8915400" y="1234440"/>
            <a:ext cx="2697480" cy="502920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points"/>
          <p:cNvSpPr txBox="1"/>
          <p:nvPr/>
        </p:nvSpPr>
        <p:spPr>
          <a:xfrm>
            <a:off x="9116568" y="1435608"/>
            <a:ext cx="2295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 s of the 54 s take (17–37 s)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Median |error| here, flexion / lateral / axial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ICP 1.5 / 1.9 / 1.9°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SAM 3D Body 1.6 / 0.5 / 1.6°</a:t>
            </a:r>
            <a:endParaRPr lang="en-US" sz="14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Student v3 1.3 / 1.2 / 1.9°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 full twist (54°, 21 s) ICP reads 25° and jumps to about 30° flexion for 2 s while mocap reads 4°: a wrong registration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 3D Body follows lateral bend within 0.6°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 under-reads the 38° lean at 36 s (32°) and the 41° twist at 23 s (31°)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we are: new people, protocol takes</a:t>
            </a:r>
            <a:endParaRPr lang="en-US" sz="3000" dirty="0"/>
          </a:p>
        </p:txBody>
      </p:sp>
      <p:pic>
        <p:nvPicPr>
          <p:cNvPr id="4" name="final_unseen_std_box.png" descr="Box plot: ICP, teacher, student v2 and v3 on new people's protocol tak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8138160" cy="4101192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4087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Box = middle 50 % of frames · line = median (printed) · whiskers = 5th–95th percentile</a:t>
            </a:r>
            <a:endParaRPr lang="en-US" sz="1150" dirty="0"/>
          </a:p>
        </p:txBody>
      </p:sp>
      <p:sp>
        <p:nvSpPr>
          <p:cNvPr id="6" name="caption"/>
          <p:cNvSpPr txBox="1"/>
          <p:nvPr/>
        </p:nvSpPr>
        <p:spPr>
          <a:xfrm>
            <a:off x="548640" y="5655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Flexion / lateral / axial: each method's camera-to-mocap orientation fitted on the person's woc take</a:t>
            </a:r>
            <a:endParaRPr lang="en-US" sz="1150" dirty="0"/>
          </a:p>
        </p:txBody>
      </p:sp>
      <p:sp>
        <p:nvSpPr>
          <p:cNvPr id="7" name="points panel"/>
          <p:cNvSpPr/>
          <p:nvPr/>
        </p:nvSpPr>
        <p:spPr>
          <a:xfrm>
            <a:off x="8915400" y="1234440"/>
            <a:ext cx="2697480" cy="502920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points"/>
          <p:cNvSpPr txBox="1"/>
          <p:nvPr/>
        </p:nvSpPr>
        <p:spPr>
          <a:xfrm>
            <a:off x="9116568" y="1435608"/>
            <a:ext cx="2295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ICP is the most accurate where it sees the chest: 1.4–2.2°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Teacher 1.5–2.0°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Student v3 1.9–2.7°, student v2 2.0–2.8°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Student v3 vs teacher: +0.3° flexion, +0.3° axial, +0.8° total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Synthetic people closed most of the flexion gap (v2 → v3)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we are: new people, game takes</a:t>
            </a:r>
            <a:endParaRPr lang="en-US" sz="3000" dirty="0"/>
          </a:p>
        </p:txBody>
      </p:sp>
      <p:pic>
        <p:nvPicPr>
          <p:cNvPr id="4" name="game_unseen_box.png" descr="Box plot: ICP, teacher, student on new people's game tak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863840" cy="396295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27054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Box = middle 50 % of frames · line = median (printed) · whiskers = 5th–95th percentile</a:t>
            </a:r>
            <a:endParaRPr lang="en-US" sz="1150" dirty="0"/>
          </a:p>
        </p:txBody>
      </p:sp>
      <p:sp>
        <p:nvSpPr>
          <p:cNvPr id="6" name="caption"/>
          <p:cNvSpPr txBox="1"/>
          <p:nvPr/>
        </p:nvSpPr>
        <p:spPr>
          <a:xfrm>
            <a:off x="548640" y="551743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/>
                </a:solidFill>
              </a:rPr>
              <a:t>Flexion / lateral / axial: each method's camera-to-mocap orientation fitted on the person's woc take</a:t>
            </a:r>
            <a:endParaRPr lang="en-US" sz="1150" dirty="0"/>
          </a:p>
        </p:txBody>
      </p:sp>
      <p:sp>
        <p:nvSpPr>
          <p:cNvPr id="7" name="points panel"/>
          <p:cNvSpPr/>
          <p:nvPr/>
        </p:nvSpPr>
        <p:spPr>
          <a:xfrm>
            <a:off x="8641080" y="1234440"/>
            <a:ext cx="2971800" cy="50292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points"/>
          <p:cNvSpPr txBox="1"/>
          <p:nvPr/>
        </p:nvSpPr>
        <p:spPr>
          <a:xfrm>
            <a:off x="8842248" y="1435608"/>
            <a:ext cx="256946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ICP solves only 48–73 % of frames; teacher and student 99–100 %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ICP: 3.7–5.1° median even on the frames it solved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Teacher 1.9–2.9° · student v3 2.1–3.3°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Synthetic people help axial most here: 3.9 → 3.3°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 v3 minus teacher: flexion −0.2, lateral +0.2, axial +0.6, total +0.2°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Summary</a:t>
            </a:r>
            <a:endParaRPr lang="en-US" sz="3000" dirty="0"/>
          </a:p>
        </p:txBody>
      </p:sp>
      <p:sp>
        <p:nvSpPr>
          <p:cNvPr id="3" name="Stereo ICP row"/>
          <p:cNvSpPr/>
          <p:nvPr/>
        </p:nvSpPr>
        <p:spPr>
          <a:xfrm>
            <a:off x="548640" y="1234440"/>
            <a:ext cx="6949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tereo ICP dot"/>
          <p:cNvSpPr/>
          <p:nvPr/>
        </p:nvSpPr>
        <p:spPr>
          <a:xfrm>
            <a:off x="749808" y="1627632"/>
            <a:ext cx="402336" cy="402336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325880" y="1307592"/>
            <a:ext cx="6035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Stereo ICP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Best accuracy when the chest is visible (1.4–2.2° on new people's protocol takes). In the game it loses up to half the frames, and small-shell frames are silently wrong.</a:t>
            </a:r>
            <a:endParaRPr lang="en-US" sz="1700" dirty="0"/>
          </a:p>
        </p:txBody>
      </p:sp>
      <p:sp>
        <p:nvSpPr>
          <p:cNvPr id="6" name="SAM 3D Body row"/>
          <p:cNvSpPr/>
          <p:nvPr/>
        </p:nvSpPr>
        <p:spPr>
          <a:xfrm>
            <a:off x="548640" y="2514600"/>
            <a:ext cx="6949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AM 3D Body dot"/>
          <p:cNvSpPr/>
          <p:nvPr/>
        </p:nvSpPr>
        <p:spPr>
          <a:xfrm>
            <a:off x="749808" y="2907792"/>
            <a:ext cx="402336" cy="402336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325880" y="2587752"/>
            <a:ext cx="6035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SAM 3D Body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on every frame, 1.3–3.9° in the game. 631 M parameters, 200 ms on a laptop GPU: cannot run on the Q6A.</a:t>
            </a:r>
            <a:endParaRPr lang="en-US" sz="1700" dirty="0"/>
          </a:p>
        </p:txBody>
      </p:sp>
      <p:sp>
        <p:nvSpPr>
          <p:cNvPr id="9" name="Student row"/>
          <p:cNvSpPr/>
          <p:nvPr/>
        </p:nvSpPr>
        <p:spPr>
          <a:xfrm>
            <a:off x="548640" y="3794760"/>
            <a:ext cx="6949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tudent dot"/>
          <p:cNvSpPr/>
          <p:nvPr/>
        </p:nvSpPr>
        <p:spPr>
          <a:xfrm>
            <a:off x="749808" y="4187952"/>
            <a:ext cx="402336" cy="402336"/>
          </a:xfrm>
          <a:prstGeom prst="ellipse">
            <a:avLst/>
          </a:prstGeom>
          <a:solidFill>
            <a:srgbClr val="7A1F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325880" y="3867912"/>
            <a:ext cx="6035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Student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4.1 ms on the Q6A NPU. v1 failed on unseen postures; real-only v2 overfit its 5 people and shrank large flexion.</a:t>
            </a:r>
            <a:endParaRPr lang="en-US" sz="1700" dirty="0"/>
          </a:p>
        </p:txBody>
      </p:sp>
      <p:sp>
        <p:nvSpPr>
          <p:cNvPr id="12" name="Synthetic humans row"/>
          <p:cNvSpPr/>
          <p:nvPr/>
        </p:nvSpPr>
        <p:spPr>
          <a:xfrm>
            <a:off x="548640" y="5074920"/>
            <a:ext cx="69494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ynthetic humans dot"/>
          <p:cNvSpPr/>
          <p:nvPr/>
        </p:nvSpPr>
        <p:spPr>
          <a:xfrm>
            <a:off x="749808" y="5468112"/>
            <a:ext cx="402336" cy="402336"/>
          </a:xfrm>
          <a:prstGeom prst="ellipse">
            <a:avLst/>
          </a:prstGeom>
          <a:solidFill>
            <a:srgbClr val="1BAE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325880" y="5148072"/>
            <a:ext cx="6035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Synthetic humans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1,500 new identities with exact trunk truth. New-people flexion 2.58 → 1.94°; still 0.3–0.8° behind the teacher.</a:t>
            </a:r>
            <a:endParaRPr lang="en-US" sz="1700" dirty="0"/>
          </a:p>
        </p:txBody>
      </p:sp>
      <p:sp>
        <p:nvSpPr>
          <p:cNvPr id="15" name="points panel"/>
          <p:cNvSpPr/>
          <p:nvPr/>
        </p:nvSpPr>
        <p:spPr>
          <a:xfrm>
            <a:off x="7772400" y="1234440"/>
            <a:ext cx="3840480" cy="5029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points"/>
          <p:cNvSpPr txBox="1"/>
          <p:nvPr/>
        </p:nvSpPr>
        <p:spPr>
          <a:xfrm>
            <a:off x="7973568" y="1435608"/>
            <a:ext cx="343814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Options from here</a:t>
            </a:r>
            <a:endParaRPr lang="en-US" sz="16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Use ICP when the chest shell is large (≥ 800 points), the student otherwise</a:t>
            </a:r>
            <a:endParaRPr lang="en-US" sz="16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More identity variety: outfits, body shapes</a:t>
            </a:r>
            <a:endParaRPr lang="en-US" sz="16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Mocap as labels for the training people (beat the teacher)</a:t>
            </a:r>
            <a:endParaRPr lang="en-US" sz="1600" dirty="0"/>
          </a:p>
          <a:p>
            <a:pPr marL="355600" lvl="1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Per-axis gain correction for flexion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 recipes with ≥ 2 runs each: one run cannot resolve 0.2°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ARK Trunk">
  <a:themeElements>
    <a:clrScheme name="NOARK Trunk">
      <a:dk1>
        <a:srgbClr val="1F2933"/>
      </a:dk1>
      <a:lt1>
        <a:srgbClr val="FFFFFF"/>
      </a:lt1>
      <a:dk2>
        <a:srgbClr val="14263B"/>
      </a:dk2>
      <a:lt2>
        <a:srgbClr val="EEF2F6"/>
      </a:lt2>
      <a:accent1>
        <a:srgbClr val="0072B2"/>
      </a:accent1>
      <a:accent2>
        <a:srgbClr val="E69F00"/>
      </a:accent2>
      <a:accent3>
        <a:srgbClr val="7A1F5C"/>
      </a:accent3>
      <a:accent4>
        <a:srgbClr val="CC79A7"/>
      </a:accent4>
      <a:accent5>
        <a:srgbClr val="6B7785"/>
      </a:accent5>
      <a:accent6>
        <a:srgbClr val="1BAE7E"/>
      </a:accent6>
      <a:hlink>
        <a:srgbClr val="0072B2"/>
      </a:hlink>
      <a:folHlink>
        <a:srgbClr val="7A1F5C"/>
      </a:folHlink>
    </a:clrScheme>
    <a:fontScheme name="NOARK Trun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4819</Words>
  <Application>Microsoft Office PowerPoint</Application>
  <PresentationFormat>Widescreen</PresentationFormat>
  <Paragraphs>394</Paragraphs>
  <Slides>30</Slides>
  <Notes>30</Notes>
  <HiddenSlides>0</HiddenSlides>
  <MMClips>14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NOARK Trunk</vt:lpstr>
      <vt:lpstr>Trunk Tracking on NOARK</vt:lpstr>
      <vt:lpstr>What we measure</vt:lpstr>
      <vt:lpstr>What the takes look like</vt:lpstr>
      <vt:lpstr>Three ways to get the trunk angle</vt:lpstr>
      <vt:lpstr>Definition: total rotation and its error</vt:lpstr>
      <vt:lpstr>Definition: flexion, lateral bend, axial rotation</vt:lpstr>
      <vt:lpstr>Definition: how errors are scored</vt:lpstr>
      <vt:lpstr>ICP is accurate when it sees the chest, not in the game</vt:lpstr>
      <vt:lpstr>In the game, ICP loses up to half the frames</vt:lpstr>
      <vt:lpstr>ICP error is set by how much chest it can see</vt:lpstr>
      <vt:lpstr>Best ICP person in the game: Gokul</vt:lpstr>
      <vt:lpstr>Worst ICP person in the game: Kabil</vt:lpstr>
      <vt:lpstr>Best and worst ICP person in the game: the videos</vt:lpstr>
      <vt:lpstr>Why Kabil's ICP is wrong: the robot cube covers his chest</vt:lpstr>
      <vt:lpstr>Fixes tried for ICP: none closed the gap</vt:lpstr>
      <vt:lpstr>SAM 3D Body: a full body from one image</vt:lpstr>
      <vt:lpstr>In the game, SAM 3D Body beats ICP for 4 of 5 people</vt:lpstr>
      <vt:lpstr>The teacher cannot run on the board, so we distil a student</vt:lpstr>
      <vt:lpstr>Student problem 1: postures it never saw in training</vt:lpstr>
      <vt:lpstr>Student problem 2: it learns the people, not the trunk</vt:lpstr>
      <vt:lpstr>Student problem 3: it shrinks large flexion on new people</vt:lpstr>
      <vt:lpstr>Why render synthetic humans</vt:lpstr>
      <vt:lpstr>Teacher misreads synthetic flexion, so labels use rendered truth</vt:lpstr>
      <vt:lpstr>Synthetic people improve flexion on new people</vt:lpstr>
      <vt:lpstr>Protocol take close-up: Lee (new person)</vt:lpstr>
      <vt:lpstr>Protocol take close-up: Arjun (new person)</vt:lpstr>
      <vt:lpstr>Protocol take close-up: Jerome (new person)</vt:lpstr>
      <vt:lpstr>Where we are: new people, protocol takes</vt:lpstr>
      <vt:lpstr>Where we are: new people, game takes</vt:lpstr>
      <vt:lpstr>Summary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Trunk tracking: ICP vs SAM 3D Body vs student</dc:title>
  <dc:subject>PptxGenJS Presentation</dc:subject>
  <dc:creator>NOARK</dc:creator>
  <cp:lastModifiedBy>Sujith Christopher</cp:lastModifiedBy>
  <cp:revision>2</cp:revision>
  <dcterms:created xsi:type="dcterms:W3CDTF">2026-10-22T09:55:43Z</dcterms:created>
  <dcterms:modified xsi:type="dcterms:W3CDTF">2026-10-22T10:11:26Z</dcterms:modified>
</cp:coreProperties>
</file>